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(Aramide, ~2 min): Thank FCMB for the opportunity. Frame this as a working session: what Invify has built, the merchant problem, the Smart mPOS proposition, the payment architecture, Dotroid device layer, and the specific role FCMB could play. Do not position Invify as replacing FCMB's existing POS estate; position it as a complementary mPOS ecosystem.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Keep this short. Tell FCMB that the deck is not intended to answer every certification detail today; it is designed to get the right business, acquiring, technology, risk and operations stakeholders aligned.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Keep claims factual. Explain that Invify is currently at v1.0 and the FCMB engagement is about moving from product capability into bank-led acquiring and controlled commercial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 lead. Describe the problem from the merchant's perspective. Avoid criticizing existing POS providers. The message is that a richer application layer can create more merchant value around the bank's existing acquiring capability.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 lead. Use the screenshots later for the live demonstration. Emphasize that the platform is not only a POS app; it is a merchant operating layer.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 lead. Walk the bank through one simple school story: school creates a term bill → parent/student is identified → payment is collected → receipt is generated → school sees the transaction → finance team reconciles. This is a strong use case because it demonstrates recurring collections and structured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Product/finance lead. Point out that the merchant can move from a single payment event to management information: student status, revenue trend, expected vs recovered amounts and invoice/payment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 lead. Show that the same foundation can support service businesses: customer → job → materials/labour → bill → payment → receipt. Mention the current retail version 1.0 use case at Odies Bar in Ikorodu as an example of the broader platform direction, without presenting it as a scaled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Device lead. Explain the core distinction carefully: Invify is not asking FCMB to replace its existing POS estate. The proposition is a complementary Smart mPOS form factor: a capable Android tablet running the merchant workflow, paired with a dedicated payment device. State that final hardware/acquiring certification and approved models are subject to FCMB/acquirer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Engineering lead. This is where the team demonstrates technical credibility. Do not claim formal production certification unless FCMB has granted it. Say that Invify has experience across multiple device families and is ready to work through the bank's certification process.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Payments lead. This slide is critical for FCMB. Explain exactly what you want from the bank. Make clear which capabilities exist today versus which require FCMB integration. Ask FCMB to confirm their preferred acquiring architecture, APIs/SDKs, TID/MID lifecycle, settlement model, certification process and device-acquiring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Finance/payments lead. Demonstrate that a payment is not the end of the workflow. Invify maintains transaction history and management views so the merchant can understand what was expected, what was collected and what remains pending/failed/unsettled. Discuss how FCMB settlement files/APIs could feed a bank-grade reconciliation process.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or product lead. This is the simple story to repeat throughout the meeting. FCMB provides the regulated/acquiring payment rail; Invify provides the merchant workflow and operational context.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Device/security lead. Introduce Dotroid as the additional layer that makes the hardware deployable as a managed fleet. Do not imply that Dotroid itself is a banking security certification. Explain that final security controls would be agreed with FCMB and relevant payment/acquiring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Aramide/device lead. This is the core differentiator. Keep the tone collaborative: 'We are not asking the bank to abandon what already works. We are proposing another device category for merchants who need a richer operating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Commercial lead. State that schools are the primary focus for this FCMB discussion, with retail and service businesses as adjacent markets. Mention Odies Bar in Ikorodu only as an example of the retail version 1.0 direction.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Commercial lead. These are proposed revenue streams, not final agreed pricing. Invite FCMB to discuss its preferred commercial and acquiring model.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This is the key partnership slide. Ask FCMB to validate the division of responsibilities and identify the internal teams required: Business, Acquiring/Payments, Technology, Risk, Operations, Information Security and possibly Legal/Compliance.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Do not commit to a device count or duration yet. The team can say the pilot size and duration will be proposed after FCMB confirms technical and operational prerequisites.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Turn the meeting into a working session. The strongest outcome is not simply 'they liked the demo'; it is that FCMB identifies owners and requirements for the next stage.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allocation: Aramide opens and closes. One team member owns the product walk-through. One owns payments/acquiring and reconciliation. One owns hardware/Dotroid. Additional team member supports live demo, evidence and Q&amp;A. Confirm actual roles internally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(Aramide): Thank FCMB. Ask for agreement on the next meeting/workstream owners, the acquiring/API documentation to be shared, and the process for defining a controlled pilot.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_crop_tmp.jpg"/>
          <p:cNvPicPr>
            <a:picLocks noChangeAspect="1"/>
          </p:cNvPicPr>
          <p:nvPr/>
        </p:nvPicPr>
        <p:blipFill>
          <a:blip r:embed="rId2"/>
          <a:stretch>
            <a:fillRect/>
          </a:stretch>
        </p:blipFill>
        <p:spPr>
          <a:xfrm>
            <a:off x="6629400" y="640080"/>
            <a:ext cx="4937760" cy="5394960"/>
          </a:xfrm>
          <a:prstGeom prst="rect">
            <a:avLst/>
          </a:prstGeom>
        </p:spPr>
      </p:pic>
      <p:sp>
        <p:nvSpPr>
          <p:cNvPr id="5" name="TextBox 4"/>
          <p:cNvSpPr txBox="1"/>
          <p:nvPr/>
        </p:nvSpPr>
        <p:spPr>
          <a:xfrm>
            <a:off x="731520" y="914400"/>
            <a:ext cx="5669280" cy="2011680"/>
          </a:xfrm>
          <a:prstGeom prst="rect">
            <a:avLst/>
          </a:prstGeom>
          <a:noFill/>
        </p:spPr>
        <p:txBody>
          <a:bodyPr wrap="none">
            <a:spAutoFit/>
          </a:bodyPr>
          <a:lstStyle/>
          <a:p>
            <a:pPr>
              <a:defRPr sz="3400" b="1">
                <a:solidFill>
                  <a:srgbClr val="FFFFFF"/>
                </a:solidFill>
                <a:latin typeface="Aptos Display"/>
              </a:defRPr>
            </a:pPr>
            <a:r>
              <a:t>Invify × FCMB</a:t>
            </a:r>
          </a:p>
          <a:p>
            <a:pPr>
              <a:defRPr sz="3000" b="1">
                <a:solidFill>
                  <a:srgbClr val="E0A92A"/>
                </a:solidFill>
                <a:latin typeface="Aptos Display"/>
              </a:defRPr>
            </a:pPr>
            <a:r>
              <a:t>Smart mPOS &amp; Digital Collections</a:t>
            </a:r>
          </a:p>
          <a:p>
            <a:pPr>
              <a:defRPr sz="1600">
                <a:solidFill>
                  <a:srgbClr val="FFFFFF"/>
                </a:solidFill>
                <a:latin typeface="Aptos"/>
              </a:defRPr>
            </a:pPr>
            <a:r>
              <a:t>Product Demonstration • Partnership Discussion • Pilot Proposal</a:t>
            </a:r>
          </a:p>
        </p:txBody>
      </p:sp>
      <p:sp>
        <p:nvSpPr>
          <p:cNvPr id="6" name="TextBox 5"/>
          <p:cNvSpPr txBox="1"/>
          <p:nvPr/>
        </p:nvSpPr>
        <p:spPr>
          <a:xfrm>
            <a:off x="731520" y="4114800"/>
            <a:ext cx="5303520" cy="1188720"/>
          </a:xfrm>
          <a:prstGeom prst="rect">
            <a:avLst/>
          </a:prstGeom>
          <a:noFill/>
        </p:spPr>
        <p:txBody>
          <a:bodyPr wrap="none">
            <a:spAutoFit/>
          </a:bodyPr>
          <a:lstStyle/>
          <a:p>
            <a:pPr>
              <a:defRPr sz="1700" b="1">
                <a:solidFill>
                  <a:srgbClr val="FFFFFF"/>
                </a:solidFill>
                <a:latin typeface="Aptos"/>
              </a:defRPr>
            </a:pPr>
            <a:r>
              <a:t>Presented by Aramide Adebayo</a:t>
            </a:r>
          </a:p>
          <a:p>
            <a:pPr>
              <a:defRPr sz="1300">
                <a:solidFill>
                  <a:srgbClr val="DCE4F2"/>
                </a:solidFill>
                <a:latin typeface="Aptos"/>
              </a:defRPr>
            </a:pPr>
            <a:r>
              <a:t>CEO • Integrated Independent Product and Services (IIPS)</a:t>
            </a:r>
          </a:p>
          <a:p>
            <a:pPr>
              <a:defRPr sz="1300">
                <a:solidFill>
                  <a:srgbClr val="DCE4F2"/>
                </a:solidFill>
                <a:latin typeface="Aptos"/>
              </a:defRPr>
            </a:pPr>
            <a:r>
              <a:t>Invify Technologies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Today's Discussion</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AGENDA</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2</a:t>
            </a:r>
          </a:p>
        </p:txBody>
      </p:sp>
      <p:sp>
        <p:nvSpPr>
          <p:cNvPr id="7" name="TextBox 6"/>
          <p:cNvSpPr txBox="1"/>
          <p:nvPr/>
        </p:nvSpPr>
        <p:spPr>
          <a:xfrm>
            <a:off x="914400" y="1143000"/>
            <a:ext cx="5760720" cy="4754880"/>
          </a:xfrm>
          <a:prstGeom prst="rect">
            <a:avLst/>
          </a:prstGeom>
          <a:noFill/>
        </p:spPr>
        <p:txBody>
          <a:bodyPr wrap="square">
            <a:spAutoFit/>
          </a:bodyPr>
          <a:lstStyle/>
          <a:p>
            <a:pPr>
              <a:spcAft>
                <a:spcPts val="800"/>
              </a:spcAft>
              <a:defRPr sz="1900">
                <a:solidFill>
                  <a:srgbClr val="191F2B"/>
                </a:solidFill>
                <a:latin typeface="Aptos"/>
              </a:defRPr>
            </a:pPr>
            <a:r>
              <a:t>• 1. Invify and the merchant problem</a:t>
            </a:r>
          </a:p>
          <a:p>
            <a:pPr>
              <a:spcAft>
                <a:spcPts val="800"/>
              </a:spcAft>
              <a:defRPr sz="1900">
                <a:solidFill>
                  <a:srgbClr val="191F2B"/>
                </a:solidFill>
                <a:latin typeface="Aptos"/>
              </a:defRPr>
            </a:pPr>
            <a:r>
              <a:t>• 2. Product and customer journey</a:t>
            </a:r>
          </a:p>
          <a:p>
            <a:pPr>
              <a:spcAft>
                <a:spcPts val="800"/>
              </a:spcAft>
              <a:defRPr sz="1900">
                <a:solidFill>
                  <a:srgbClr val="191F2B"/>
                </a:solidFill>
                <a:latin typeface="Aptos"/>
              </a:defRPr>
            </a:pPr>
            <a:r>
              <a:t>• 3. Smart mPOS device proposition</a:t>
            </a:r>
          </a:p>
          <a:p>
            <a:pPr>
              <a:spcAft>
                <a:spcPts val="800"/>
              </a:spcAft>
              <a:defRPr sz="1900">
                <a:solidFill>
                  <a:srgbClr val="191F2B"/>
                </a:solidFill>
                <a:latin typeface="Aptos"/>
              </a:defRPr>
            </a:pPr>
            <a:r>
              <a:t>• 4. Payments, collections and reconciliation</a:t>
            </a:r>
          </a:p>
          <a:p>
            <a:pPr>
              <a:spcAft>
                <a:spcPts val="800"/>
              </a:spcAft>
              <a:defRPr sz="1900">
                <a:solidFill>
                  <a:srgbClr val="191F2B"/>
                </a:solidFill>
                <a:latin typeface="Aptos"/>
              </a:defRPr>
            </a:pPr>
            <a:r>
              <a:t>• 5. Dotroid managed-device layer</a:t>
            </a:r>
          </a:p>
          <a:p>
            <a:pPr>
              <a:spcAft>
                <a:spcPts val="800"/>
              </a:spcAft>
              <a:defRPr sz="1900">
                <a:solidFill>
                  <a:srgbClr val="191F2B"/>
                </a:solidFill>
                <a:latin typeface="Aptos"/>
              </a:defRPr>
            </a:pPr>
            <a:r>
              <a:t>• 6. Target market and business model</a:t>
            </a:r>
          </a:p>
          <a:p>
            <a:pPr>
              <a:spcAft>
                <a:spcPts val="800"/>
              </a:spcAft>
              <a:defRPr sz="1900">
                <a:solidFill>
                  <a:srgbClr val="191F2B"/>
                </a:solidFill>
                <a:latin typeface="Aptos"/>
              </a:defRPr>
            </a:pPr>
            <a:r>
              <a:t>• 7. FCMB partnership model and pilot</a:t>
            </a:r>
          </a:p>
          <a:p>
            <a:pPr>
              <a:spcAft>
                <a:spcPts val="800"/>
              </a:spcAft>
              <a:defRPr sz="1900">
                <a:solidFill>
                  <a:srgbClr val="191F2B"/>
                </a:solidFill>
                <a:latin typeface="Aptos"/>
              </a:defRPr>
            </a:pPr>
            <a:r>
              <a:t>• 8. Discussion, requirements and next steps</a:t>
            </a:r>
          </a:p>
        </p:txBody>
      </p:sp>
      <p:sp>
        <p:nvSpPr>
          <p:cNvPr id="8" name="Rounded Rectangle 7"/>
          <p:cNvSpPr/>
          <p:nvPr/>
        </p:nvSpPr>
        <p:spPr>
          <a:xfrm>
            <a:off x="7132320" y="1234440"/>
            <a:ext cx="38404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0" y="123444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33488" y="1380744"/>
            <a:ext cx="3520440" cy="320040"/>
          </a:xfrm>
          <a:prstGeom prst="rect">
            <a:avLst/>
          </a:prstGeom>
          <a:noFill/>
        </p:spPr>
        <p:txBody>
          <a:bodyPr wrap="none">
            <a:spAutoFit/>
          </a:bodyPr>
          <a:lstStyle/>
          <a:p>
            <a:pPr>
              <a:defRPr sz="1600" b="1">
                <a:solidFill>
                  <a:srgbClr val="133166"/>
                </a:solidFill>
                <a:latin typeface="Aptos"/>
              </a:defRPr>
            </a:pPr>
            <a:r>
              <a:t>What FCMB asked to understand</a:t>
            </a:r>
          </a:p>
        </p:txBody>
      </p:sp>
      <p:sp>
        <p:nvSpPr>
          <p:cNvPr id="11" name="TextBox 10"/>
          <p:cNvSpPr txBox="1"/>
          <p:nvPr/>
        </p:nvSpPr>
        <p:spPr>
          <a:xfrm>
            <a:off x="7333488" y="1764792"/>
            <a:ext cx="3520440" cy="576072"/>
          </a:xfrm>
          <a:prstGeom prst="rect">
            <a:avLst/>
          </a:prstGeom>
          <a:noFill/>
        </p:spPr>
        <p:txBody>
          <a:bodyPr wrap="square">
            <a:spAutoFit/>
          </a:bodyPr>
          <a:lstStyle/>
          <a:p>
            <a:pPr>
              <a:defRPr sz="1250">
                <a:solidFill>
                  <a:srgbClr val="191F2B"/>
                </a:solidFill>
                <a:latin typeface="Aptos"/>
              </a:defRPr>
            </a:pPr>
            <a:r>
              <a:t>Product, key value proposition, target market, use cases, business model and partnership approach.</a:t>
            </a:r>
          </a:p>
        </p:txBody>
      </p:sp>
      <p:sp>
        <p:nvSpPr>
          <p:cNvPr id="12" name="Rounded Rectangle 11"/>
          <p:cNvSpPr/>
          <p:nvPr/>
        </p:nvSpPr>
        <p:spPr>
          <a:xfrm>
            <a:off x="7132320" y="2743200"/>
            <a:ext cx="38404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0" y="27432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33488" y="2889504"/>
            <a:ext cx="3520440" cy="320040"/>
          </a:xfrm>
          <a:prstGeom prst="rect">
            <a:avLst/>
          </a:prstGeom>
          <a:noFill/>
        </p:spPr>
        <p:txBody>
          <a:bodyPr wrap="none">
            <a:spAutoFit/>
          </a:bodyPr>
          <a:lstStyle/>
          <a:p>
            <a:pPr>
              <a:defRPr sz="1600" b="1">
                <a:solidFill>
                  <a:srgbClr val="133166"/>
                </a:solidFill>
                <a:latin typeface="Aptos"/>
              </a:defRPr>
            </a:pPr>
            <a:r>
              <a:t>Today's objective</a:t>
            </a:r>
          </a:p>
        </p:txBody>
      </p:sp>
      <p:sp>
        <p:nvSpPr>
          <p:cNvPr id="15" name="TextBox 14"/>
          <p:cNvSpPr txBox="1"/>
          <p:nvPr/>
        </p:nvSpPr>
        <p:spPr>
          <a:xfrm>
            <a:off x="7333488" y="3273552"/>
            <a:ext cx="3520440" cy="576072"/>
          </a:xfrm>
          <a:prstGeom prst="rect">
            <a:avLst/>
          </a:prstGeom>
          <a:noFill/>
        </p:spPr>
        <p:txBody>
          <a:bodyPr wrap="square">
            <a:spAutoFit/>
          </a:bodyPr>
          <a:lstStyle/>
          <a:p>
            <a:pPr>
              <a:defRPr sz="1250">
                <a:solidFill>
                  <a:srgbClr val="191F2B"/>
                </a:solidFill>
                <a:latin typeface="Aptos"/>
              </a:defRPr>
            </a:pPr>
            <a:r>
              <a:t>Agree the commercial and technical questions required to move toward a controlled pilot.</a:t>
            </a:r>
          </a:p>
        </p:txBody>
      </p:sp>
      <p:sp>
        <p:nvSpPr>
          <p:cNvPr id="16" name="Rounded Rectangle 15"/>
          <p:cNvSpPr/>
          <p:nvPr/>
        </p:nvSpPr>
        <p:spPr>
          <a:xfrm>
            <a:off x="7132320" y="4251960"/>
            <a:ext cx="38404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0" y="425196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4398264"/>
            <a:ext cx="3520440" cy="320040"/>
          </a:xfrm>
          <a:prstGeom prst="rect">
            <a:avLst/>
          </a:prstGeom>
          <a:noFill/>
        </p:spPr>
        <p:txBody>
          <a:bodyPr wrap="none">
            <a:spAutoFit/>
          </a:bodyPr>
          <a:lstStyle/>
          <a:p>
            <a:pPr>
              <a:defRPr sz="1600" b="1">
                <a:solidFill>
                  <a:srgbClr val="133166"/>
                </a:solidFill>
                <a:latin typeface="Aptos"/>
              </a:defRPr>
            </a:pPr>
            <a:r>
              <a:t>Format</a:t>
            </a:r>
          </a:p>
        </p:txBody>
      </p:sp>
      <p:sp>
        <p:nvSpPr>
          <p:cNvPr id="19" name="TextBox 18"/>
          <p:cNvSpPr txBox="1"/>
          <p:nvPr/>
        </p:nvSpPr>
        <p:spPr>
          <a:xfrm>
            <a:off x="7333488" y="4782312"/>
            <a:ext cx="3520440" cy="576072"/>
          </a:xfrm>
          <a:prstGeom prst="rect">
            <a:avLst/>
          </a:prstGeom>
          <a:noFill/>
        </p:spPr>
        <p:txBody>
          <a:bodyPr wrap="square">
            <a:spAutoFit/>
          </a:bodyPr>
          <a:lstStyle/>
          <a:p>
            <a:pPr>
              <a:defRPr sz="1250">
                <a:solidFill>
                  <a:srgbClr val="191F2B"/>
                </a:solidFill>
                <a:latin typeface="Aptos"/>
              </a:defRPr>
            </a:pPr>
            <a:r>
              <a:t>Presentation → live product walk-through → device demo → partnership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Who We Are</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COMPANY</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3</a:t>
            </a:r>
          </a:p>
        </p:txBody>
      </p:sp>
      <p:sp>
        <p:nvSpPr>
          <p:cNvPr id="7" name="Rounded Rectangle 6"/>
          <p:cNvSpPr/>
          <p:nvPr/>
        </p:nvSpPr>
        <p:spPr>
          <a:xfrm>
            <a:off x="731520" y="1143000"/>
            <a:ext cx="512064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1430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289304"/>
            <a:ext cx="4800600" cy="320040"/>
          </a:xfrm>
          <a:prstGeom prst="rect">
            <a:avLst/>
          </a:prstGeom>
          <a:noFill/>
        </p:spPr>
        <p:txBody>
          <a:bodyPr wrap="none">
            <a:spAutoFit/>
          </a:bodyPr>
          <a:lstStyle/>
          <a:p>
            <a:pPr>
              <a:defRPr sz="1600" b="1">
                <a:solidFill>
                  <a:srgbClr val="133166"/>
                </a:solidFill>
                <a:latin typeface="Aptos"/>
              </a:defRPr>
            </a:pPr>
            <a:r>
              <a:t>IIPS</a:t>
            </a:r>
          </a:p>
        </p:txBody>
      </p:sp>
      <p:sp>
        <p:nvSpPr>
          <p:cNvPr id="10" name="TextBox 9"/>
          <p:cNvSpPr txBox="1"/>
          <p:nvPr/>
        </p:nvSpPr>
        <p:spPr>
          <a:xfrm>
            <a:off x="932688" y="1673352"/>
            <a:ext cx="4800600" cy="576072"/>
          </a:xfrm>
          <a:prstGeom prst="rect">
            <a:avLst/>
          </a:prstGeom>
          <a:noFill/>
        </p:spPr>
        <p:txBody>
          <a:bodyPr wrap="square">
            <a:spAutoFit/>
          </a:bodyPr>
          <a:lstStyle/>
          <a:p>
            <a:pPr>
              <a:defRPr sz="1250">
                <a:solidFill>
                  <a:srgbClr val="191F2B"/>
                </a:solidFill>
                <a:latin typeface="Aptos"/>
              </a:defRPr>
            </a:pPr>
            <a:r>
              <a:t>Integrated Independent Product and Services — technology and product development organization behind the Invify proposition.</a:t>
            </a:r>
          </a:p>
        </p:txBody>
      </p:sp>
      <p:sp>
        <p:nvSpPr>
          <p:cNvPr id="11" name="Rounded Rectangle 10"/>
          <p:cNvSpPr/>
          <p:nvPr/>
        </p:nvSpPr>
        <p:spPr>
          <a:xfrm>
            <a:off x="731520" y="2651760"/>
            <a:ext cx="512064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65176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798064"/>
            <a:ext cx="4800600" cy="320040"/>
          </a:xfrm>
          <a:prstGeom prst="rect">
            <a:avLst/>
          </a:prstGeom>
          <a:noFill/>
        </p:spPr>
        <p:txBody>
          <a:bodyPr wrap="none">
            <a:spAutoFit/>
          </a:bodyPr>
          <a:lstStyle/>
          <a:p>
            <a:pPr>
              <a:defRPr sz="1600" b="1">
                <a:solidFill>
                  <a:srgbClr val="133166"/>
                </a:solidFill>
                <a:latin typeface="Aptos"/>
              </a:defRPr>
            </a:pPr>
            <a:r>
              <a:t>Invify</a:t>
            </a:r>
          </a:p>
        </p:txBody>
      </p:sp>
      <p:sp>
        <p:nvSpPr>
          <p:cNvPr id="14" name="TextBox 13"/>
          <p:cNvSpPr txBox="1"/>
          <p:nvPr/>
        </p:nvSpPr>
        <p:spPr>
          <a:xfrm>
            <a:off x="932688" y="3182112"/>
            <a:ext cx="4800600" cy="576072"/>
          </a:xfrm>
          <a:prstGeom prst="rect">
            <a:avLst/>
          </a:prstGeom>
          <a:noFill/>
        </p:spPr>
        <p:txBody>
          <a:bodyPr wrap="square">
            <a:spAutoFit/>
          </a:bodyPr>
          <a:lstStyle/>
          <a:p>
            <a:pPr>
              <a:defRPr sz="1250">
                <a:solidFill>
                  <a:srgbClr val="191F2B"/>
                </a:solidFill>
                <a:latin typeface="Aptos"/>
              </a:defRPr>
            </a:pPr>
            <a:r>
              <a:t>Merchant, invoicing, collections and business-management platform with Smart mPOS payment acceptance.</a:t>
            </a:r>
          </a:p>
        </p:txBody>
      </p:sp>
      <p:sp>
        <p:nvSpPr>
          <p:cNvPr id="15" name="Rounded Rectangle 14"/>
          <p:cNvSpPr/>
          <p:nvPr/>
        </p:nvSpPr>
        <p:spPr>
          <a:xfrm>
            <a:off x="731520" y="4160520"/>
            <a:ext cx="512064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16052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06824"/>
            <a:ext cx="4800600" cy="320040"/>
          </a:xfrm>
          <a:prstGeom prst="rect">
            <a:avLst/>
          </a:prstGeom>
          <a:noFill/>
        </p:spPr>
        <p:txBody>
          <a:bodyPr wrap="none">
            <a:spAutoFit/>
          </a:bodyPr>
          <a:lstStyle/>
          <a:p>
            <a:pPr>
              <a:defRPr sz="1600" b="1">
                <a:solidFill>
                  <a:srgbClr val="133166"/>
                </a:solidFill>
                <a:latin typeface="Aptos"/>
              </a:defRPr>
            </a:pPr>
            <a:r>
              <a:t>Current product stage</a:t>
            </a:r>
          </a:p>
        </p:txBody>
      </p:sp>
      <p:sp>
        <p:nvSpPr>
          <p:cNvPr id="18" name="TextBox 17"/>
          <p:cNvSpPr txBox="1"/>
          <p:nvPr/>
        </p:nvSpPr>
        <p:spPr>
          <a:xfrm>
            <a:off x="932688" y="4690872"/>
            <a:ext cx="4800600" cy="576072"/>
          </a:xfrm>
          <a:prstGeom prst="rect">
            <a:avLst/>
          </a:prstGeom>
          <a:noFill/>
        </p:spPr>
        <p:txBody>
          <a:bodyPr wrap="square">
            <a:spAutoFit/>
          </a:bodyPr>
          <a:lstStyle/>
          <a:p>
            <a:pPr>
              <a:defRPr sz="1250">
                <a:solidFill>
                  <a:srgbClr val="191F2B"/>
                </a:solidFill>
                <a:latin typeface="Aptos"/>
              </a:defRPr>
            </a:pPr>
            <a:r>
              <a:t>Invify v1.0. Product demonstrations and payment workflow tests completed; commercial scale-up is the next phase.</a:t>
            </a:r>
          </a:p>
        </p:txBody>
      </p:sp>
      <p:pic>
        <p:nvPicPr>
          <p:cNvPr id="19" name="Picture 18" descr="_crop_tmp.jpg"/>
          <p:cNvPicPr>
            <a:picLocks noChangeAspect="1"/>
          </p:cNvPicPr>
          <p:nvPr/>
        </p:nvPicPr>
        <p:blipFill>
          <a:blip r:embed="rId2"/>
          <a:stretch>
            <a:fillRect/>
          </a:stretch>
        </p:blipFill>
        <p:spPr>
          <a:xfrm>
            <a:off x="6400800" y="1005840"/>
            <a:ext cx="4937760" cy="51206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The Merchant Problem</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OPPORTUNITY</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4</a:t>
            </a:r>
          </a:p>
        </p:txBody>
      </p:sp>
      <p:sp>
        <p:nvSpPr>
          <p:cNvPr id="7" name="TextBox 6"/>
          <p:cNvSpPr txBox="1"/>
          <p:nvPr/>
        </p:nvSpPr>
        <p:spPr>
          <a:xfrm>
            <a:off x="731520" y="1143000"/>
            <a:ext cx="6400800" cy="5029200"/>
          </a:xfrm>
          <a:prstGeom prst="rect">
            <a:avLst/>
          </a:prstGeom>
          <a:noFill/>
        </p:spPr>
        <p:txBody>
          <a:bodyPr wrap="square">
            <a:spAutoFit/>
          </a:bodyPr>
          <a:lstStyle/>
          <a:p>
            <a:pPr>
              <a:spcAft>
                <a:spcPts val="800"/>
              </a:spcAft>
              <a:defRPr sz="1800">
                <a:solidFill>
                  <a:srgbClr val="191F2B"/>
                </a:solidFill>
                <a:latin typeface="Aptos"/>
              </a:defRPr>
            </a:pPr>
            <a:r>
              <a:t>• Payment acceptance is often separated from invoicing, billing, customer records and reconciliation.</a:t>
            </a:r>
          </a:p>
          <a:p>
            <a:pPr>
              <a:spcAft>
                <a:spcPts val="800"/>
              </a:spcAft>
              <a:defRPr sz="1800">
                <a:solidFill>
                  <a:srgbClr val="191F2B"/>
                </a:solidFill>
                <a:latin typeface="Aptos"/>
              </a:defRPr>
            </a:pPr>
            <a:r>
              <a:t>• Conventional POS workflows can be optimized for the transaction itself, while merchants still manage the wider business process elsewhere.</a:t>
            </a:r>
          </a:p>
          <a:p>
            <a:pPr>
              <a:spcAft>
                <a:spcPts val="800"/>
              </a:spcAft>
              <a:defRPr sz="1800">
                <a:solidFill>
                  <a:srgbClr val="191F2B"/>
                </a:solidFill>
                <a:latin typeface="Aptos"/>
              </a:defRPr>
            </a:pPr>
            <a:r>
              <a:t>• Schools need fee collection, student accountability and reconciliation—not only a payment terminal.</a:t>
            </a:r>
          </a:p>
          <a:p>
            <a:pPr>
              <a:spcAft>
                <a:spcPts val="800"/>
              </a:spcAft>
              <a:defRPr sz="1800">
                <a:solidFill>
                  <a:srgbClr val="191F2B"/>
                </a:solidFill>
                <a:latin typeface="Aptos"/>
              </a:defRPr>
            </a:pPr>
            <a:r>
              <a:t>• Service businesses need job records, materials/labour billing, payment status and receipts in one workflow.</a:t>
            </a:r>
          </a:p>
          <a:p>
            <a:pPr>
              <a:spcAft>
                <a:spcPts val="800"/>
              </a:spcAft>
              <a:defRPr sz="1800">
                <a:solidFill>
                  <a:srgbClr val="191F2B"/>
                </a:solidFill>
                <a:latin typeface="Aptos"/>
              </a:defRPr>
            </a:pPr>
            <a:r>
              <a:t>• Retail merchants need a simple sales, inventory and payment experience with clear transaction records.</a:t>
            </a:r>
          </a:p>
        </p:txBody>
      </p:sp>
      <p:sp>
        <p:nvSpPr>
          <p:cNvPr id="8" name="Rounded Rectangle 7"/>
          <p:cNvSpPr/>
          <p:nvPr/>
        </p:nvSpPr>
        <p:spPr>
          <a:xfrm>
            <a:off x="7498079" y="1417320"/>
            <a:ext cx="356616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417320"/>
            <a:ext cx="73152" cy="123444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7" y="1563624"/>
            <a:ext cx="3246120" cy="320040"/>
          </a:xfrm>
          <a:prstGeom prst="rect">
            <a:avLst/>
          </a:prstGeom>
          <a:noFill/>
        </p:spPr>
        <p:txBody>
          <a:bodyPr wrap="none">
            <a:spAutoFit/>
          </a:bodyPr>
          <a:lstStyle/>
          <a:p>
            <a:pPr>
              <a:defRPr sz="1600" b="1">
                <a:solidFill>
                  <a:srgbClr val="133166"/>
                </a:solidFill>
                <a:latin typeface="Aptos"/>
              </a:defRPr>
            </a:pPr>
            <a:r>
              <a:t>The gap</a:t>
            </a:r>
          </a:p>
        </p:txBody>
      </p:sp>
      <p:sp>
        <p:nvSpPr>
          <p:cNvPr id="11" name="TextBox 10"/>
          <p:cNvSpPr txBox="1"/>
          <p:nvPr/>
        </p:nvSpPr>
        <p:spPr>
          <a:xfrm>
            <a:off x="7699247" y="1947672"/>
            <a:ext cx="3246120" cy="576072"/>
          </a:xfrm>
          <a:prstGeom prst="rect">
            <a:avLst/>
          </a:prstGeom>
          <a:noFill/>
        </p:spPr>
        <p:txBody>
          <a:bodyPr wrap="square">
            <a:spAutoFit/>
          </a:bodyPr>
          <a:lstStyle/>
          <a:p>
            <a:pPr>
              <a:defRPr sz="1250">
                <a:solidFill>
                  <a:srgbClr val="191F2B"/>
                </a:solidFill>
                <a:latin typeface="Aptos"/>
              </a:defRPr>
            </a:pPr>
            <a:r>
              <a:t>Payment device ≠ complete merchant operating workflow.</a:t>
            </a:r>
          </a:p>
        </p:txBody>
      </p:sp>
      <p:sp>
        <p:nvSpPr>
          <p:cNvPr id="12" name="Rounded Rectangle 11"/>
          <p:cNvSpPr/>
          <p:nvPr/>
        </p:nvSpPr>
        <p:spPr>
          <a:xfrm>
            <a:off x="7498079" y="2926080"/>
            <a:ext cx="356616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92608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7" y="3072384"/>
            <a:ext cx="3246120" cy="320040"/>
          </a:xfrm>
          <a:prstGeom prst="rect">
            <a:avLst/>
          </a:prstGeom>
          <a:noFill/>
        </p:spPr>
        <p:txBody>
          <a:bodyPr wrap="none">
            <a:spAutoFit/>
          </a:bodyPr>
          <a:lstStyle/>
          <a:p>
            <a:pPr>
              <a:defRPr sz="1600" b="1">
                <a:solidFill>
                  <a:srgbClr val="133166"/>
                </a:solidFill>
                <a:latin typeface="Aptos"/>
              </a:defRPr>
            </a:pPr>
            <a:r>
              <a:t>Invify response</a:t>
            </a:r>
          </a:p>
        </p:txBody>
      </p:sp>
      <p:sp>
        <p:nvSpPr>
          <p:cNvPr id="15" name="TextBox 14"/>
          <p:cNvSpPr txBox="1"/>
          <p:nvPr/>
        </p:nvSpPr>
        <p:spPr>
          <a:xfrm>
            <a:off x="7699247" y="3456432"/>
            <a:ext cx="3246120" cy="576072"/>
          </a:xfrm>
          <a:prstGeom prst="rect">
            <a:avLst/>
          </a:prstGeom>
          <a:noFill/>
        </p:spPr>
        <p:txBody>
          <a:bodyPr wrap="square">
            <a:spAutoFit/>
          </a:bodyPr>
          <a:lstStyle/>
          <a:p>
            <a:pPr>
              <a:defRPr sz="1250">
                <a:solidFill>
                  <a:srgbClr val="191F2B"/>
                </a:solidFill>
                <a:latin typeface="Aptos"/>
              </a:defRPr>
            </a:pPr>
            <a:r>
              <a:t>Bring business workflow and payment acceptance closer together.</a:t>
            </a:r>
          </a:p>
        </p:txBody>
      </p:sp>
      <p:sp>
        <p:nvSpPr>
          <p:cNvPr id="16" name="Rounded Rectangle 15"/>
          <p:cNvSpPr/>
          <p:nvPr/>
        </p:nvSpPr>
        <p:spPr>
          <a:xfrm>
            <a:off x="7498079" y="4434840"/>
            <a:ext cx="356616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443484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7" y="4581144"/>
            <a:ext cx="3246120" cy="320040"/>
          </a:xfrm>
          <a:prstGeom prst="rect">
            <a:avLst/>
          </a:prstGeom>
          <a:noFill/>
        </p:spPr>
        <p:txBody>
          <a:bodyPr wrap="none">
            <a:spAutoFit/>
          </a:bodyPr>
          <a:lstStyle/>
          <a:p>
            <a:pPr>
              <a:defRPr sz="1600" b="1">
                <a:solidFill>
                  <a:srgbClr val="133166"/>
                </a:solidFill>
                <a:latin typeface="Aptos"/>
              </a:defRPr>
            </a:pPr>
            <a:r>
              <a:t>Bank opportunity</a:t>
            </a:r>
          </a:p>
        </p:txBody>
      </p:sp>
      <p:sp>
        <p:nvSpPr>
          <p:cNvPr id="19" name="TextBox 18"/>
          <p:cNvSpPr txBox="1"/>
          <p:nvPr/>
        </p:nvSpPr>
        <p:spPr>
          <a:xfrm>
            <a:off x="7699247" y="4965192"/>
            <a:ext cx="3246120" cy="576072"/>
          </a:xfrm>
          <a:prstGeom prst="rect">
            <a:avLst/>
          </a:prstGeom>
          <a:noFill/>
        </p:spPr>
        <p:txBody>
          <a:bodyPr wrap="square">
            <a:spAutoFit/>
          </a:bodyPr>
          <a:lstStyle/>
          <a:p>
            <a:pPr>
              <a:defRPr sz="1250">
                <a:solidFill>
                  <a:srgbClr val="191F2B"/>
                </a:solidFill>
                <a:latin typeface="Aptos"/>
              </a:defRPr>
            </a:pPr>
            <a:r>
              <a:t>Extend acquiring into richer merchant use cases without displacing the bank's payment infrastructure.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Invify at a Glance</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PLATFORM</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5</a:t>
            </a:r>
          </a:p>
        </p:txBody>
      </p:sp>
      <p:sp>
        <p:nvSpPr>
          <p:cNvPr id="7" name="Rounded Rectangle 6"/>
          <p:cNvSpPr/>
          <p:nvPr/>
        </p:nvSpPr>
        <p:spPr>
          <a:xfrm>
            <a:off x="685800" y="11430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1430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289304"/>
            <a:ext cx="3063240" cy="320040"/>
          </a:xfrm>
          <a:prstGeom prst="rect">
            <a:avLst/>
          </a:prstGeom>
          <a:noFill/>
        </p:spPr>
        <p:txBody>
          <a:bodyPr wrap="none">
            <a:spAutoFit/>
          </a:bodyPr>
          <a:lstStyle/>
          <a:p>
            <a:pPr>
              <a:defRPr sz="1600" b="1">
                <a:solidFill>
                  <a:srgbClr val="133166"/>
                </a:solidFill>
                <a:latin typeface="Aptos"/>
              </a:defRPr>
            </a:pPr>
            <a:r>
              <a:t>Merchant onboarding</a:t>
            </a:r>
          </a:p>
        </p:txBody>
      </p:sp>
      <p:sp>
        <p:nvSpPr>
          <p:cNvPr id="10" name="TextBox 9"/>
          <p:cNvSpPr txBox="1"/>
          <p:nvPr/>
        </p:nvSpPr>
        <p:spPr>
          <a:xfrm>
            <a:off x="886968" y="1673352"/>
            <a:ext cx="3063240" cy="576072"/>
          </a:xfrm>
          <a:prstGeom prst="rect">
            <a:avLst/>
          </a:prstGeom>
          <a:noFill/>
        </p:spPr>
        <p:txBody>
          <a:bodyPr wrap="square">
            <a:spAutoFit/>
          </a:bodyPr>
          <a:lstStyle/>
          <a:p>
            <a:pPr>
              <a:defRPr sz="1250">
                <a:solidFill>
                  <a:srgbClr val="191F2B"/>
                </a:solidFill>
                <a:latin typeface="Aptos"/>
              </a:defRPr>
            </a:pPr>
            <a:r>
              <a:t>Business profile, contact, CAC/TIN and operational setup.</a:t>
            </a:r>
          </a:p>
        </p:txBody>
      </p:sp>
      <p:sp>
        <p:nvSpPr>
          <p:cNvPr id="11" name="Rounded Rectangle 10"/>
          <p:cNvSpPr/>
          <p:nvPr/>
        </p:nvSpPr>
        <p:spPr>
          <a:xfrm>
            <a:off x="4389120" y="11430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14300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289304"/>
            <a:ext cx="3063240" cy="320040"/>
          </a:xfrm>
          <a:prstGeom prst="rect">
            <a:avLst/>
          </a:prstGeom>
          <a:noFill/>
        </p:spPr>
        <p:txBody>
          <a:bodyPr wrap="none">
            <a:spAutoFit/>
          </a:bodyPr>
          <a:lstStyle/>
          <a:p>
            <a:pPr>
              <a:defRPr sz="1600" b="1">
                <a:solidFill>
                  <a:srgbClr val="133166"/>
                </a:solidFill>
                <a:latin typeface="Aptos"/>
              </a:defRPr>
            </a:pPr>
            <a:r>
              <a:t>Billing &amp; invoicing</a:t>
            </a:r>
          </a:p>
        </p:txBody>
      </p:sp>
      <p:sp>
        <p:nvSpPr>
          <p:cNvPr id="14" name="TextBox 13"/>
          <p:cNvSpPr txBox="1"/>
          <p:nvPr/>
        </p:nvSpPr>
        <p:spPr>
          <a:xfrm>
            <a:off x="4590288" y="1673352"/>
            <a:ext cx="3063240" cy="576072"/>
          </a:xfrm>
          <a:prstGeom prst="rect">
            <a:avLst/>
          </a:prstGeom>
          <a:noFill/>
        </p:spPr>
        <p:txBody>
          <a:bodyPr wrap="square">
            <a:spAutoFit/>
          </a:bodyPr>
          <a:lstStyle/>
          <a:p>
            <a:pPr>
              <a:defRPr sz="1250">
                <a:solidFill>
                  <a:srgbClr val="191F2B"/>
                </a:solidFill>
                <a:latin typeface="Aptos"/>
              </a:defRPr>
            </a:pPr>
            <a:r>
              <a:t>Create bills, jobs, items, fees and customer-linked records.</a:t>
            </a:r>
          </a:p>
        </p:txBody>
      </p:sp>
      <p:sp>
        <p:nvSpPr>
          <p:cNvPr id="15" name="Rounded Rectangle 14"/>
          <p:cNvSpPr/>
          <p:nvPr/>
        </p:nvSpPr>
        <p:spPr>
          <a:xfrm>
            <a:off x="8092440" y="11430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14300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1289304"/>
            <a:ext cx="3063240" cy="320040"/>
          </a:xfrm>
          <a:prstGeom prst="rect">
            <a:avLst/>
          </a:prstGeom>
          <a:noFill/>
        </p:spPr>
        <p:txBody>
          <a:bodyPr wrap="none">
            <a:spAutoFit/>
          </a:bodyPr>
          <a:lstStyle/>
          <a:p>
            <a:pPr>
              <a:defRPr sz="1600" b="1">
                <a:solidFill>
                  <a:srgbClr val="133166"/>
                </a:solidFill>
                <a:latin typeface="Aptos"/>
              </a:defRPr>
            </a:pPr>
            <a:r>
              <a:t>Collections</a:t>
            </a:r>
          </a:p>
        </p:txBody>
      </p:sp>
      <p:sp>
        <p:nvSpPr>
          <p:cNvPr id="18" name="TextBox 17"/>
          <p:cNvSpPr txBox="1"/>
          <p:nvPr/>
        </p:nvSpPr>
        <p:spPr>
          <a:xfrm>
            <a:off x="8293608" y="1673352"/>
            <a:ext cx="3063240" cy="576072"/>
          </a:xfrm>
          <a:prstGeom prst="rect">
            <a:avLst/>
          </a:prstGeom>
          <a:noFill/>
        </p:spPr>
        <p:txBody>
          <a:bodyPr wrap="square">
            <a:spAutoFit/>
          </a:bodyPr>
          <a:lstStyle/>
          <a:p>
            <a:pPr>
              <a:defRPr sz="1250">
                <a:solidFill>
                  <a:srgbClr val="191F2B"/>
                </a:solidFill>
                <a:latin typeface="Aptos"/>
              </a:defRPr>
            </a:pPr>
            <a:r>
              <a:t>Cash, transfer, wallet/virtual account and POS/card workflows.</a:t>
            </a:r>
          </a:p>
        </p:txBody>
      </p:sp>
      <p:sp>
        <p:nvSpPr>
          <p:cNvPr id="19" name="Rounded Rectangle 18"/>
          <p:cNvSpPr/>
          <p:nvPr/>
        </p:nvSpPr>
        <p:spPr>
          <a:xfrm>
            <a:off x="685800" y="27432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27432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2889504"/>
            <a:ext cx="3063240" cy="320040"/>
          </a:xfrm>
          <a:prstGeom prst="rect">
            <a:avLst/>
          </a:prstGeom>
          <a:noFill/>
        </p:spPr>
        <p:txBody>
          <a:bodyPr wrap="none">
            <a:spAutoFit/>
          </a:bodyPr>
          <a:lstStyle/>
          <a:p>
            <a:pPr>
              <a:defRPr sz="1600" b="1">
                <a:solidFill>
                  <a:srgbClr val="133166"/>
                </a:solidFill>
                <a:latin typeface="Aptos"/>
              </a:defRPr>
            </a:pPr>
            <a:r>
              <a:t>Receipts</a:t>
            </a:r>
          </a:p>
        </p:txBody>
      </p:sp>
      <p:sp>
        <p:nvSpPr>
          <p:cNvPr id="22" name="TextBox 21"/>
          <p:cNvSpPr txBox="1"/>
          <p:nvPr/>
        </p:nvSpPr>
        <p:spPr>
          <a:xfrm>
            <a:off x="886968" y="3273552"/>
            <a:ext cx="3063240" cy="576072"/>
          </a:xfrm>
          <a:prstGeom prst="rect">
            <a:avLst/>
          </a:prstGeom>
          <a:noFill/>
        </p:spPr>
        <p:txBody>
          <a:bodyPr wrap="square">
            <a:spAutoFit/>
          </a:bodyPr>
          <a:lstStyle/>
          <a:p>
            <a:pPr>
              <a:defRPr sz="1250">
                <a:solidFill>
                  <a:srgbClr val="191F2B"/>
                </a:solidFill>
                <a:latin typeface="Aptos"/>
              </a:defRPr>
            </a:pPr>
            <a:r>
              <a:t>Digital/PDF receipt and print-ready workflows.</a:t>
            </a:r>
          </a:p>
        </p:txBody>
      </p:sp>
      <p:sp>
        <p:nvSpPr>
          <p:cNvPr id="23" name="Rounded Rectangle 22"/>
          <p:cNvSpPr/>
          <p:nvPr/>
        </p:nvSpPr>
        <p:spPr>
          <a:xfrm>
            <a:off x="4389120" y="27432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274320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90288" y="2889504"/>
            <a:ext cx="3063240" cy="320040"/>
          </a:xfrm>
          <a:prstGeom prst="rect">
            <a:avLst/>
          </a:prstGeom>
          <a:noFill/>
        </p:spPr>
        <p:txBody>
          <a:bodyPr wrap="none">
            <a:spAutoFit/>
          </a:bodyPr>
          <a:lstStyle/>
          <a:p>
            <a:pPr>
              <a:defRPr sz="1600" b="1">
                <a:solidFill>
                  <a:srgbClr val="133166"/>
                </a:solidFill>
                <a:latin typeface="Aptos"/>
              </a:defRPr>
            </a:pPr>
            <a:r>
              <a:t>Reconciliation</a:t>
            </a:r>
          </a:p>
        </p:txBody>
      </p:sp>
      <p:sp>
        <p:nvSpPr>
          <p:cNvPr id="26" name="TextBox 25"/>
          <p:cNvSpPr txBox="1"/>
          <p:nvPr/>
        </p:nvSpPr>
        <p:spPr>
          <a:xfrm>
            <a:off x="4590288" y="3273552"/>
            <a:ext cx="3063240" cy="576072"/>
          </a:xfrm>
          <a:prstGeom prst="rect">
            <a:avLst/>
          </a:prstGeom>
          <a:noFill/>
        </p:spPr>
        <p:txBody>
          <a:bodyPr wrap="square">
            <a:spAutoFit/>
          </a:bodyPr>
          <a:lstStyle/>
          <a:p>
            <a:pPr>
              <a:defRPr sz="1250">
                <a:solidFill>
                  <a:srgbClr val="191F2B"/>
                </a:solidFill>
                <a:latin typeface="Aptos"/>
              </a:defRPr>
            </a:pPr>
            <a:r>
              <a:t>Payment history, statuses, pending/failed/unsettled views and reconciliation.</a:t>
            </a:r>
          </a:p>
        </p:txBody>
      </p:sp>
      <p:sp>
        <p:nvSpPr>
          <p:cNvPr id="27" name="Rounded Rectangle 26"/>
          <p:cNvSpPr/>
          <p:nvPr/>
        </p:nvSpPr>
        <p:spPr>
          <a:xfrm>
            <a:off x="8092440" y="27432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92440" y="274320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3608" y="2889504"/>
            <a:ext cx="3063240" cy="320040"/>
          </a:xfrm>
          <a:prstGeom prst="rect">
            <a:avLst/>
          </a:prstGeom>
          <a:noFill/>
        </p:spPr>
        <p:txBody>
          <a:bodyPr wrap="none">
            <a:spAutoFit/>
          </a:bodyPr>
          <a:lstStyle/>
          <a:p>
            <a:pPr>
              <a:defRPr sz="1600" b="1">
                <a:solidFill>
                  <a:srgbClr val="133166"/>
                </a:solidFill>
                <a:latin typeface="Aptos"/>
              </a:defRPr>
            </a:pPr>
            <a:r>
              <a:t>Analytics</a:t>
            </a:r>
          </a:p>
        </p:txBody>
      </p:sp>
      <p:sp>
        <p:nvSpPr>
          <p:cNvPr id="30" name="TextBox 29"/>
          <p:cNvSpPr txBox="1"/>
          <p:nvPr/>
        </p:nvSpPr>
        <p:spPr>
          <a:xfrm>
            <a:off x="8293608" y="3273552"/>
            <a:ext cx="3063240" cy="576072"/>
          </a:xfrm>
          <a:prstGeom prst="rect">
            <a:avLst/>
          </a:prstGeom>
          <a:noFill/>
        </p:spPr>
        <p:txBody>
          <a:bodyPr wrap="square">
            <a:spAutoFit/>
          </a:bodyPr>
          <a:lstStyle/>
          <a:p>
            <a:pPr>
              <a:defRPr sz="1250">
                <a:solidFill>
                  <a:srgbClr val="191F2B"/>
                </a:solidFill>
                <a:latin typeface="Aptos"/>
              </a:defRPr>
            </a:pPr>
            <a:r>
              <a:t>Revenue, student/payment analytics and executive/finance dashboards.</a:t>
            </a:r>
          </a:p>
        </p:txBody>
      </p:sp>
      <p:sp>
        <p:nvSpPr>
          <p:cNvPr id="31" name="Rounded Rectangle 30"/>
          <p:cNvSpPr/>
          <p:nvPr/>
        </p:nvSpPr>
        <p:spPr>
          <a:xfrm>
            <a:off x="685800" y="4343400"/>
            <a:ext cx="52120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 y="4343400"/>
            <a:ext cx="73152" cy="123444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6968" y="4489704"/>
            <a:ext cx="4892040" cy="320040"/>
          </a:xfrm>
          <a:prstGeom prst="rect">
            <a:avLst/>
          </a:prstGeom>
          <a:noFill/>
        </p:spPr>
        <p:txBody>
          <a:bodyPr wrap="none">
            <a:spAutoFit/>
          </a:bodyPr>
          <a:lstStyle/>
          <a:p>
            <a:pPr>
              <a:defRPr sz="1600" b="1">
                <a:solidFill>
                  <a:srgbClr val="133166"/>
                </a:solidFill>
                <a:latin typeface="Aptos"/>
              </a:defRPr>
            </a:pPr>
            <a:r>
              <a:t>School workflow</a:t>
            </a:r>
          </a:p>
        </p:txBody>
      </p:sp>
      <p:sp>
        <p:nvSpPr>
          <p:cNvPr id="34" name="TextBox 33"/>
          <p:cNvSpPr txBox="1"/>
          <p:nvPr/>
        </p:nvSpPr>
        <p:spPr>
          <a:xfrm>
            <a:off x="886968" y="4873752"/>
            <a:ext cx="4892040" cy="576072"/>
          </a:xfrm>
          <a:prstGeom prst="rect">
            <a:avLst/>
          </a:prstGeom>
          <a:noFill/>
        </p:spPr>
        <p:txBody>
          <a:bodyPr wrap="square">
            <a:spAutoFit/>
          </a:bodyPr>
          <a:lstStyle/>
          <a:p>
            <a:pPr>
              <a:defRPr sz="1250">
                <a:solidFill>
                  <a:srgbClr val="191F2B"/>
                </a:solidFill>
                <a:latin typeface="Aptos"/>
              </a:defRPr>
            </a:pPr>
            <a:r>
              <a:t>Students, guardians, terms, fees, results, billing records and fee collection.</a:t>
            </a:r>
          </a:p>
        </p:txBody>
      </p:sp>
      <p:sp>
        <p:nvSpPr>
          <p:cNvPr id="35" name="Rounded Rectangle 34"/>
          <p:cNvSpPr/>
          <p:nvPr/>
        </p:nvSpPr>
        <p:spPr>
          <a:xfrm>
            <a:off x="6217920" y="4343400"/>
            <a:ext cx="52120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4343400"/>
            <a:ext cx="73152" cy="123444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89704"/>
            <a:ext cx="4892040" cy="320040"/>
          </a:xfrm>
          <a:prstGeom prst="rect">
            <a:avLst/>
          </a:prstGeom>
          <a:noFill/>
        </p:spPr>
        <p:txBody>
          <a:bodyPr wrap="none">
            <a:spAutoFit/>
          </a:bodyPr>
          <a:lstStyle/>
          <a:p>
            <a:pPr>
              <a:defRPr sz="1600" b="1">
                <a:solidFill>
                  <a:srgbClr val="133166"/>
                </a:solidFill>
                <a:latin typeface="Aptos"/>
              </a:defRPr>
            </a:pPr>
            <a:r>
              <a:t>Multi-sector foundation</a:t>
            </a:r>
          </a:p>
        </p:txBody>
      </p:sp>
      <p:sp>
        <p:nvSpPr>
          <p:cNvPr id="38" name="TextBox 37"/>
          <p:cNvSpPr txBox="1"/>
          <p:nvPr/>
        </p:nvSpPr>
        <p:spPr>
          <a:xfrm>
            <a:off x="6419088" y="4873752"/>
            <a:ext cx="4892040" cy="576072"/>
          </a:xfrm>
          <a:prstGeom prst="rect">
            <a:avLst/>
          </a:prstGeom>
          <a:noFill/>
        </p:spPr>
        <p:txBody>
          <a:bodyPr wrap="square">
            <a:spAutoFit/>
          </a:bodyPr>
          <a:lstStyle/>
          <a:p>
            <a:pPr>
              <a:defRPr sz="1250">
                <a:solidFill>
                  <a:srgbClr val="191F2B"/>
                </a:solidFill>
                <a:latin typeface="Aptos"/>
              </a:defRPr>
            </a:pPr>
            <a:r>
              <a:t>Retail and service/handworker workflows can use the same merchant and payment foundation.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Primary Use Case: Schools</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CUSTOMER JOURNEY</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6</a:t>
            </a:r>
          </a:p>
        </p:txBody>
      </p:sp>
      <p:pic>
        <p:nvPicPr>
          <p:cNvPr id="7" name="Picture 6" descr="_crop_tmp.jpg"/>
          <p:cNvPicPr>
            <a:picLocks noChangeAspect="1"/>
          </p:cNvPicPr>
          <p:nvPr/>
        </p:nvPicPr>
        <p:blipFill>
          <a:blip r:embed="rId2"/>
          <a:stretch>
            <a:fillRect/>
          </a:stretch>
        </p:blipFill>
        <p:spPr>
          <a:xfrm>
            <a:off x="640080" y="1097280"/>
            <a:ext cx="4572000" cy="5212080"/>
          </a:xfrm>
          <a:prstGeom prst="rect">
            <a:avLst/>
          </a:prstGeom>
        </p:spPr>
      </p:pic>
      <p:sp>
        <p:nvSpPr>
          <p:cNvPr id="8" name="TextBox 7"/>
          <p:cNvSpPr txBox="1"/>
          <p:nvPr/>
        </p:nvSpPr>
        <p:spPr>
          <a:xfrm>
            <a:off x="5486400" y="1234440"/>
            <a:ext cx="5486400" cy="4754880"/>
          </a:xfrm>
          <a:prstGeom prst="rect">
            <a:avLst/>
          </a:prstGeom>
          <a:noFill/>
        </p:spPr>
        <p:txBody>
          <a:bodyPr wrap="square">
            <a:spAutoFit/>
          </a:bodyPr>
          <a:lstStyle/>
          <a:p>
            <a:pPr>
              <a:spcAft>
                <a:spcPts val="800"/>
              </a:spcAft>
              <a:defRPr sz="1800">
                <a:solidFill>
                  <a:srgbClr val="191F2B"/>
                </a:solidFill>
                <a:latin typeface="Aptos"/>
              </a:defRPr>
            </a:pPr>
            <a:r>
              <a:t>• Set up academic year and term</a:t>
            </a:r>
          </a:p>
          <a:p>
            <a:pPr>
              <a:spcAft>
                <a:spcPts val="800"/>
              </a:spcAft>
              <a:defRPr sz="1800">
                <a:solidFill>
                  <a:srgbClr val="191F2B"/>
                </a:solidFill>
                <a:latin typeface="Aptos"/>
              </a:defRPr>
            </a:pPr>
            <a:r>
              <a:t>• Configure fees/items and assign to students</a:t>
            </a:r>
          </a:p>
          <a:p>
            <a:pPr>
              <a:spcAft>
                <a:spcPts val="800"/>
              </a:spcAft>
              <a:defRPr sz="1800">
                <a:solidFill>
                  <a:srgbClr val="191F2B"/>
                </a:solidFill>
                <a:latin typeface="Aptos"/>
              </a:defRPr>
            </a:pPr>
            <a:r>
              <a:t>• Track expected vs recovered revenue</a:t>
            </a:r>
          </a:p>
          <a:p>
            <a:pPr>
              <a:spcAft>
                <a:spcPts val="800"/>
              </a:spcAft>
              <a:defRPr sz="1800">
                <a:solidFill>
                  <a:srgbClr val="191F2B"/>
                </a:solidFill>
                <a:latin typeface="Aptos"/>
              </a:defRPr>
            </a:pPr>
            <a:r>
              <a:t>• Collect through supported payment channels</a:t>
            </a:r>
          </a:p>
          <a:p>
            <a:pPr>
              <a:spcAft>
                <a:spcPts val="800"/>
              </a:spcAft>
              <a:defRPr sz="1800">
                <a:solidFill>
                  <a:srgbClr val="191F2B"/>
                </a:solidFill>
                <a:latin typeface="Aptos"/>
              </a:defRPr>
            </a:pPr>
            <a:r>
              <a:t>• Generate receipts and maintain payment history</a:t>
            </a:r>
          </a:p>
          <a:p>
            <a:pPr>
              <a:spcAft>
                <a:spcPts val="800"/>
              </a:spcAft>
              <a:defRPr sz="1800">
                <a:solidFill>
                  <a:srgbClr val="191F2B"/>
                </a:solidFill>
                <a:latin typeface="Aptos"/>
              </a:defRPr>
            </a:pPr>
            <a:r>
              <a:t>• Monitor paid/owing students and revenue analytics</a:t>
            </a:r>
          </a:p>
          <a:p>
            <a:pPr>
              <a:spcAft>
                <a:spcPts val="800"/>
              </a:spcAft>
              <a:defRPr sz="1800">
                <a:solidFill>
                  <a:srgbClr val="191F2B"/>
                </a:solidFill>
                <a:latin typeface="Aptos"/>
              </a:defRPr>
            </a:pPr>
            <a:r>
              <a:t>• Reconcile collections against expected fees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From Collection to Accountability</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SCHOOL ANALYTICS</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7</a:t>
            </a:r>
          </a:p>
        </p:txBody>
      </p:sp>
      <p:pic>
        <p:nvPicPr>
          <p:cNvPr id="7" name="Picture 6" descr="_crop_tmp.jpg"/>
          <p:cNvPicPr>
            <a:picLocks noChangeAspect="1"/>
          </p:cNvPicPr>
          <p:nvPr/>
        </p:nvPicPr>
        <p:blipFill>
          <a:blip r:embed="rId2"/>
          <a:stretch>
            <a:fillRect/>
          </a:stretch>
        </p:blipFill>
        <p:spPr>
          <a:xfrm>
            <a:off x="594360" y="1051560"/>
            <a:ext cx="3840480" cy="5394960"/>
          </a:xfrm>
          <a:prstGeom prst="rect">
            <a:avLst/>
          </a:prstGeom>
        </p:spPr>
      </p:pic>
      <p:pic>
        <p:nvPicPr>
          <p:cNvPr id="8" name="Picture 7" descr="_crop_tmp.jpg"/>
          <p:cNvPicPr>
            <a:picLocks noChangeAspect="1"/>
          </p:cNvPicPr>
          <p:nvPr/>
        </p:nvPicPr>
        <p:blipFill>
          <a:blip r:embed="rId3"/>
          <a:stretch>
            <a:fillRect/>
          </a:stretch>
        </p:blipFill>
        <p:spPr>
          <a:xfrm>
            <a:off x="4480560" y="1051560"/>
            <a:ext cx="3840480" cy="5394960"/>
          </a:xfrm>
          <a:prstGeom prst="rect">
            <a:avLst/>
          </a:prstGeom>
        </p:spPr>
      </p:pic>
      <p:pic>
        <p:nvPicPr>
          <p:cNvPr id="9" name="Picture 8" descr="_crop_tmp.jpg"/>
          <p:cNvPicPr>
            <a:picLocks noChangeAspect="1"/>
          </p:cNvPicPr>
          <p:nvPr/>
        </p:nvPicPr>
        <p:blipFill>
          <a:blip r:embed="rId4"/>
          <a:stretch>
            <a:fillRect/>
          </a:stretch>
        </p:blipFill>
        <p:spPr>
          <a:xfrm>
            <a:off x="8366760" y="1051560"/>
            <a:ext cx="3246120" cy="53949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Beyond Schools: Retail &amp; Services</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USE CASES</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8</a:t>
            </a:r>
          </a:p>
        </p:txBody>
      </p:sp>
      <p:pic>
        <p:nvPicPr>
          <p:cNvPr id="7" name="Picture 6" descr="_crop_tmp.jpg"/>
          <p:cNvPicPr>
            <a:picLocks noChangeAspect="1"/>
          </p:cNvPicPr>
          <p:nvPr/>
        </p:nvPicPr>
        <p:blipFill>
          <a:blip r:embed="rId2"/>
          <a:stretch>
            <a:fillRect/>
          </a:stretch>
        </p:blipFill>
        <p:spPr>
          <a:xfrm>
            <a:off x="685800" y="1097280"/>
            <a:ext cx="3337560" cy="5257800"/>
          </a:xfrm>
          <a:prstGeom prst="rect">
            <a:avLst/>
          </a:prstGeom>
        </p:spPr>
      </p:pic>
      <p:pic>
        <p:nvPicPr>
          <p:cNvPr id="8" name="Picture 7" descr="_crop_tmp.jpg"/>
          <p:cNvPicPr>
            <a:picLocks noChangeAspect="1"/>
          </p:cNvPicPr>
          <p:nvPr/>
        </p:nvPicPr>
        <p:blipFill>
          <a:blip r:embed="rId3"/>
          <a:stretch>
            <a:fillRect/>
          </a:stretch>
        </p:blipFill>
        <p:spPr>
          <a:xfrm>
            <a:off x="4434840" y="1097280"/>
            <a:ext cx="3337560" cy="5257800"/>
          </a:xfrm>
          <a:prstGeom prst="rect">
            <a:avLst/>
          </a:prstGeom>
        </p:spPr>
      </p:pic>
      <p:pic>
        <p:nvPicPr>
          <p:cNvPr id="9" name="Picture 8" descr="_crop_tmp.jpg"/>
          <p:cNvPicPr>
            <a:picLocks noChangeAspect="1"/>
          </p:cNvPicPr>
          <p:nvPr/>
        </p:nvPicPr>
        <p:blipFill>
          <a:blip r:embed="rId4"/>
          <a:stretch>
            <a:fillRect/>
          </a:stretch>
        </p:blipFill>
        <p:spPr>
          <a:xfrm>
            <a:off x="8183879" y="1097280"/>
            <a:ext cx="3337560" cy="5257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The Smart mPOS Proposition</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DEVICE</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9</a:t>
            </a:r>
          </a:p>
        </p:txBody>
      </p:sp>
      <p:pic>
        <p:nvPicPr>
          <p:cNvPr id="7" name="Picture 6" descr="_crop_tmp.jpg"/>
          <p:cNvPicPr>
            <a:picLocks noChangeAspect="1"/>
          </p:cNvPicPr>
          <p:nvPr/>
        </p:nvPicPr>
        <p:blipFill>
          <a:blip r:embed="rId2"/>
          <a:stretch>
            <a:fillRect/>
          </a:stretch>
        </p:blipFill>
        <p:spPr>
          <a:xfrm>
            <a:off x="594360" y="960120"/>
            <a:ext cx="5029200" cy="5440680"/>
          </a:xfrm>
          <a:prstGeom prst="rect">
            <a:avLst/>
          </a:prstGeom>
        </p:spPr>
      </p:pic>
      <p:sp>
        <p:nvSpPr>
          <p:cNvPr id="8" name="TextBox 7"/>
          <p:cNvSpPr txBox="1"/>
          <p:nvPr/>
        </p:nvSpPr>
        <p:spPr>
          <a:xfrm>
            <a:off x="5806440" y="1143000"/>
            <a:ext cx="5486400" cy="4937760"/>
          </a:xfrm>
          <a:prstGeom prst="rect">
            <a:avLst/>
          </a:prstGeom>
          <a:noFill/>
        </p:spPr>
        <p:txBody>
          <a:bodyPr wrap="square">
            <a:spAutoFit/>
          </a:bodyPr>
          <a:lstStyle/>
          <a:p>
            <a:pPr>
              <a:spcAft>
                <a:spcPts val="800"/>
              </a:spcAft>
              <a:defRPr sz="1600">
                <a:solidFill>
                  <a:srgbClr val="191F2B"/>
                </a:solidFill>
                <a:latin typeface="Aptos"/>
              </a:defRPr>
            </a:pPr>
            <a:r>
              <a:t>• Large-format Android tablet experience paired with a dedicated card-payment device</a:t>
            </a:r>
          </a:p>
          <a:p>
            <a:pPr>
              <a:spcAft>
                <a:spcPts val="800"/>
              </a:spcAft>
              <a:defRPr sz="1600">
                <a:solidFill>
                  <a:srgbClr val="191F2B"/>
                </a:solidFill>
                <a:latin typeface="Aptos"/>
              </a:defRPr>
            </a:pPr>
            <a:r>
              <a:t>• Designed for a richer merchant interface than a conventional small-screen POS</a:t>
            </a:r>
          </a:p>
          <a:p>
            <a:pPr>
              <a:spcAft>
                <a:spcPts val="800"/>
              </a:spcAft>
              <a:defRPr sz="1600">
                <a:solidFill>
                  <a:srgbClr val="191F2B"/>
                </a:solidFill>
                <a:latin typeface="Aptos"/>
              </a:defRPr>
            </a:pPr>
            <a:r>
              <a:t>• High-resolution screen supports dashboards, invoices, customer records and guided payment workflows</a:t>
            </a:r>
          </a:p>
          <a:p>
            <a:pPr>
              <a:spcAft>
                <a:spcPts val="800"/>
              </a:spcAft>
              <a:defRPr sz="1600">
                <a:solidFill>
                  <a:srgbClr val="191F2B"/>
                </a:solidFill>
                <a:latin typeface="Aptos"/>
              </a:defRPr>
            </a:pPr>
            <a:r>
              <a:t>• More local storage/memory supports richer applications and offline-oriented workflows</a:t>
            </a:r>
          </a:p>
          <a:p>
            <a:pPr>
              <a:spcAft>
                <a:spcPts val="800"/>
              </a:spcAft>
              <a:defRPr sz="1600">
                <a:solidFill>
                  <a:srgbClr val="191F2B"/>
                </a:solidFill>
                <a:latin typeface="Aptos"/>
              </a:defRPr>
            </a:pPr>
            <a:r>
              <a:t>• Portable, presentable and suitable for merchant-facing operations</a:t>
            </a:r>
          </a:p>
          <a:p>
            <a:pPr>
              <a:spcAft>
                <a:spcPts val="800"/>
              </a:spcAft>
              <a:defRPr sz="1600">
                <a:solidFill>
                  <a:srgbClr val="191F2B"/>
                </a:solidFill>
                <a:latin typeface="Aptos"/>
              </a:defRPr>
            </a:pPr>
            <a:r>
              <a:t>• Dedicated payment device handles chip + PIN card acceptance</a:t>
            </a:r>
          </a:p>
          <a:p>
            <a:pPr>
              <a:spcAft>
                <a:spcPts val="800"/>
              </a:spcAft>
              <a:defRPr sz="1600">
                <a:solidFill>
                  <a:srgbClr val="191F2B"/>
                </a:solidFill>
                <a:latin typeface="Aptos"/>
              </a:defRPr>
            </a:pPr>
            <a:r>
              <a:t>• Printer option supports immediate physical receipts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Hardware &amp; Integration Experience</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ENGINEERING EVIDENCE</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10</a:t>
            </a:r>
          </a:p>
        </p:txBody>
      </p:sp>
      <p:sp>
        <p:nvSpPr>
          <p:cNvPr id="7" name="Rounded Rectangle 6"/>
          <p:cNvSpPr/>
          <p:nvPr/>
        </p:nvSpPr>
        <p:spPr>
          <a:xfrm>
            <a:off x="640080" y="1005840"/>
            <a:ext cx="338328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005840"/>
            <a:ext cx="73152" cy="114300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152144"/>
            <a:ext cx="3063240" cy="320040"/>
          </a:xfrm>
          <a:prstGeom prst="rect">
            <a:avLst/>
          </a:prstGeom>
          <a:noFill/>
        </p:spPr>
        <p:txBody>
          <a:bodyPr wrap="none">
            <a:spAutoFit/>
          </a:bodyPr>
          <a:lstStyle/>
          <a:p>
            <a:pPr>
              <a:defRPr sz="1600" b="1">
                <a:solidFill>
                  <a:srgbClr val="133166"/>
                </a:solidFill>
                <a:latin typeface="Aptos"/>
              </a:defRPr>
            </a:pPr>
            <a:r>
              <a:t>15 devices tested</a:t>
            </a:r>
          </a:p>
        </p:txBody>
      </p:sp>
      <p:sp>
        <p:nvSpPr>
          <p:cNvPr id="10" name="TextBox 9"/>
          <p:cNvSpPr txBox="1"/>
          <p:nvPr/>
        </p:nvSpPr>
        <p:spPr>
          <a:xfrm>
            <a:off x="841248" y="1536192"/>
            <a:ext cx="3063240" cy="484632"/>
          </a:xfrm>
          <a:prstGeom prst="rect">
            <a:avLst/>
          </a:prstGeom>
          <a:noFill/>
        </p:spPr>
        <p:txBody>
          <a:bodyPr wrap="square">
            <a:spAutoFit/>
          </a:bodyPr>
          <a:lstStyle/>
          <a:p>
            <a:pPr>
              <a:defRPr sz="1250">
                <a:solidFill>
                  <a:srgbClr val="191F2B"/>
                </a:solidFill>
                <a:latin typeface="Aptos"/>
              </a:defRPr>
            </a:pPr>
            <a:r>
              <a:t>Invify application and device workflows have been exercised across multiple Android/payment-device environments.</a:t>
            </a:r>
          </a:p>
        </p:txBody>
      </p:sp>
      <p:sp>
        <p:nvSpPr>
          <p:cNvPr id="11" name="Rounded Rectangle 10"/>
          <p:cNvSpPr/>
          <p:nvPr/>
        </p:nvSpPr>
        <p:spPr>
          <a:xfrm>
            <a:off x="4389120" y="1005840"/>
            <a:ext cx="338328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005840"/>
            <a:ext cx="73152" cy="11430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152144"/>
            <a:ext cx="3063240" cy="320040"/>
          </a:xfrm>
          <a:prstGeom prst="rect">
            <a:avLst/>
          </a:prstGeom>
          <a:noFill/>
        </p:spPr>
        <p:txBody>
          <a:bodyPr wrap="none">
            <a:spAutoFit/>
          </a:bodyPr>
          <a:lstStyle/>
          <a:p>
            <a:pPr>
              <a:defRPr sz="1600" b="1">
                <a:solidFill>
                  <a:srgbClr val="133166"/>
                </a:solidFill>
                <a:latin typeface="Aptos"/>
              </a:defRPr>
            </a:pPr>
            <a:r>
              <a:t>9+ POS families worked on</a:t>
            </a:r>
          </a:p>
        </p:txBody>
      </p:sp>
      <p:sp>
        <p:nvSpPr>
          <p:cNvPr id="14" name="TextBox 13"/>
          <p:cNvSpPr txBox="1"/>
          <p:nvPr/>
        </p:nvSpPr>
        <p:spPr>
          <a:xfrm>
            <a:off x="4590288" y="1536192"/>
            <a:ext cx="3063240" cy="484632"/>
          </a:xfrm>
          <a:prstGeom prst="rect">
            <a:avLst/>
          </a:prstGeom>
          <a:noFill/>
        </p:spPr>
        <p:txBody>
          <a:bodyPr wrap="square">
            <a:spAutoFit/>
          </a:bodyPr>
          <a:lstStyle/>
          <a:p>
            <a:pPr>
              <a:defRPr sz="1250">
                <a:solidFill>
                  <a:srgbClr val="191F2B"/>
                </a:solidFill>
                <a:latin typeface="Aptos"/>
              </a:defRPr>
            </a:pPr>
            <a:r>
              <a:t>K11, NEXGO, TOPWISE, TELPO, AISINO, D60, NEWPOS and others.</a:t>
            </a:r>
          </a:p>
        </p:txBody>
      </p:sp>
      <p:sp>
        <p:nvSpPr>
          <p:cNvPr id="15" name="Rounded Rectangle 14"/>
          <p:cNvSpPr/>
          <p:nvPr/>
        </p:nvSpPr>
        <p:spPr>
          <a:xfrm>
            <a:off x="8138160" y="1005840"/>
            <a:ext cx="338328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005840"/>
            <a:ext cx="73152" cy="114300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1152144"/>
            <a:ext cx="3063240" cy="320040"/>
          </a:xfrm>
          <a:prstGeom prst="rect">
            <a:avLst/>
          </a:prstGeom>
          <a:noFill/>
        </p:spPr>
        <p:txBody>
          <a:bodyPr wrap="none">
            <a:spAutoFit/>
          </a:bodyPr>
          <a:lstStyle/>
          <a:p>
            <a:pPr>
              <a:defRPr sz="1600" b="1">
                <a:solidFill>
                  <a:srgbClr val="133166"/>
                </a:solidFill>
                <a:latin typeface="Aptos"/>
              </a:defRPr>
            </a:pPr>
            <a:r>
              <a:t>Android 9+ foundation</a:t>
            </a:r>
          </a:p>
        </p:txBody>
      </p:sp>
      <p:sp>
        <p:nvSpPr>
          <p:cNvPr id="18" name="TextBox 17"/>
          <p:cNvSpPr txBox="1"/>
          <p:nvPr/>
        </p:nvSpPr>
        <p:spPr>
          <a:xfrm>
            <a:off x="8339328" y="1536192"/>
            <a:ext cx="3063240" cy="484632"/>
          </a:xfrm>
          <a:prstGeom prst="rect">
            <a:avLst/>
          </a:prstGeom>
          <a:noFill/>
        </p:spPr>
        <p:txBody>
          <a:bodyPr wrap="square">
            <a:spAutoFit/>
          </a:bodyPr>
          <a:lstStyle/>
          <a:p>
            <a:pPr>
              <a:defRPr sz="1250">
                <a:solidFill>
                  <a:srgbClr val="191F2B"/>
                </a:solidFill>
                <a:latin typeface="Aptos"/>
              </a:defRPr>
            </a:pPr>
            <a:r>
              <a:t>Application experience designed for supported Android versions 9 and above.</a:t>
            </a:r>
          </a:p>
        </p:txBody>
      </p:sp>
      <p:sp>
        <p:nvSpPr>
          <p:cNvPr id="19" name="TextBox 18"/>
          <p:cNvSpPr txBox="1"/>
          <p:nvPr/>
        </p:nvSpPr>
        <p:spPr>
          <a:xfrm>
            <a:off x="777240" y="2743200"/>
            <a:ext cx="10607040" cy="3017520"/>
          </a:xfrm>
          <a:prstGeom prst="rect">
            <a:avLst/>
          </a:prstGeom>
          <a:noFill/>
        </p:spPr>
        <p:txBody>
          <a:bodyPr wrap="square">
            <a:spAutoFit/>
          </a:bodyPr>
          <a:lstStyle/>
          <a:p>
            <a:pPr>
              <a:spcAft>
                <a:spcPts val="800"/>
              </a:spcAft>
              <a:defRPr sz="1700">
                <a:solidFill>
                  <a:srgbClr val="191F2B"/>
                </a:solidFill>
                <a:latin typeface="Aptos"/>
              </a:defRPr>
            </a:pPr>
            <a:r>
              <a:t>• Engineering experience includes payment-device SDK integration, POS application workflows and transaction handling.</a:t>
            </a:r>
          </a:p>
          <a:p>
            <a:pPr>
              <a:spcAft>
                <a:spcPts val="800"/>
              </a:spcAft>
              <a:defRPr sz="1700">
                <a:solidFill>
                  <a:srgbClr val="191F2B"/>
                </a:solidFill>
                <a:latin typeface="Aptos"/>
              </a:defRPr>
            </a:pPr>
            <a:r>
              <a:t>• Current Smart mPOS hardware partner/manufacturer identified: AISINO / Vanstone Electronic (Beijing) Co., Ltd.</a:t>
            </a:r>
          </a:p>
          <a:p>
            <a:pPr>
              <a:spcAft>
                <a:spcPts val="800"/>
              </a:spcAft>
              <a:defRPr sz="1700">
                <a:solidFill>
                  <a:srgbClr val="191F2B"/>
                </a:solidFill>
                <a:latin typeface="Aptos"/>
              </a:defRPr>
            </a:pPr>
            <a:r>
              <a:t>• Working demonstration transaction is available.</a:t>
            </a:r>
          </a:p>
          <a:p>
            <a:pPr>
              <a:spcAft>
                <a:spcPts val="800"/>
              </a:spcAft>
              <a:defRPr sz="1700">
                <a:solidFill>
                  <a:srgbClr val="191F2B"/>
                </a:solidFill>
                <a:latin typeface="Aptos"/>
              </a:defRPr>
            </a:pPr>
            <a:r>
              <a:t>• Card capability demonstrated with chip + PIN; NFC is not currently part of this proposition.</a:t>
            </a:r>
          </a:p>
          <a:p>
            <a:pPr>
              <a:spcAft>
                <a:spcPts val="800"/>
              </a:spcAft>
              <a:defRPr sz="1700">
                <a:solidFill>
                  <a:srgbClr val="191F2B"/>
                </a:solidFill>
                <a:latin typeface="Aptos"/>
              </a:defRPr>
            </a:pPr>
            <a:r>
              <a:t>• FCMB certification would be the formal path for production acquiring, TID/MID, keys, device approval and operational controls.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Payments &amp; Collections</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PAYMENTS</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11</a:t>
            </a:r>
          </a:p>
        </p:txBody>
      </p:sp>
      <p:sp>
        <p:nvSpPr>
          <p:cNvPr id="7" name="Rounded Rectangle 6"/>
          <p:cNvSpPr/>
          <p:nvPr/>
        </p:nvSpPr>
        <p:spPr>
          <a:xfrm>
            <a:off x="594360" y="1143000"/>
            <a:ext cx="242316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143000"/>
            <a:ext cx="73152" cy="114300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289304"/>
            <a:ext cx="2103120" cy="320040"/>
          </a:xfrm>
          <a:prstGeom prst="rect">
            <a:avLst/>
          </a:prstGeom>
          <a:noFill/>
        </p:spPr>
        <p:txBody>
          <a:bodyPr wrap="none">
            <a:spAutoFit/>
          </a:bodyPr>
          <a:lstStyle/>
          <a:p>
            <a:pPr>
              <a:defRPr sz="1600" b="1">
                <a:solidFill>
                  <a:srgbClr val="133166"/>
                </a:solidFill>
                <a:latin typeface="Aptos"/>
              </a:defRPr>
            </a:pPr>
            <a:r>
              <a:t>Merchant</a:t>
            </a:r>
          </a:p>
        </p:txBody>
      </p:sp>
      <p:sp>
        <p:nvSpPr>
          <p:cNvPr id="10" name="TextBox 9"/>
          <p:cNvSpPr txBox="1"/>
          <p:nvPr/>
        </p:nvSpPr>
        <p:spPr>
          <a:xfrm>
            <a:off x="795528" y="1673352"/>
            <a:ext cx="2103120" cy="484632"/>
          </a:xfrm>
          <a:prstGeom prst="rect">
            <a:avLst/>
          </a:prstGeom>
          <a:noFill/>
        </p:spPr>
        <p:txBody>
          <a:bodyPr wrap="square">
            <a:spAutoFit/>
          </a:bodyPr>
          <a:lstStyle/>
          <a:p>
            <a:pPr>
              <a:defRPr sz="1250">
                <a:solidFill>
                  <a:srgbClr val="191F2B"/>
                </a:solidFill>
                <a:latin typeface="Aptos"/>
              </a:defRPr>
            </a:pPr>
            <a:r>
              <a:t>Invoice / bill / customer / payment request</a:t>
            </a:r>
          </a:p>
        </p:txBody>
      </p:sp>
      <p:sp>
        <p:nvSpPr>
          <p:cNvPr id="11" name="Rounded Rectangle 10"/>
          <p:cNvSpPr/>
          <p:nvPr/>
        </p:nvSpPr>
        <p:spPr>
          <a:xfrm>
            <a:off x="3246120" y="1143000"/>
            <a:ext cx="242316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1143000"/>
            <a:ext cx="73152" cy="11430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47288" y="1289304"/>
            <a:ext cx="2103120" cy="320040"/>
          </a:xfrm>
          <a:prstGeom prst="rect">
            <a:avLst/>
          </a:prstGeom>
          <a:noFill/>
        </p:spPr>
        <p:txBody>
          <a:bodyPr wrap="none">
            <a:spAutoFit/>
          </a:bodyPr>
          <a:lstStyle/>
          <a:p>
            <a:pPr>
              <a:defRPr sz="1600" b="1">
                <a:solidFill>
                  <a:srgbClr val="133166"/>
                </a:solidFill>
                <a:latin typeface="Aptos"/>
              </a:defRPr>
            </a:pPr>
            <a:r>
              <a:t>Invify</a:t>
            </a:r>
          </a:p>
        </p:txBody>
      </p:sp>
      <p:sp>
        <p:nvSpPr>
          <p:cNvPr id="14" name="TextBox 13"/>
          <p:cNvSpPr txBox="1"/>
          <p:nvPr/>
        </p:nvSpPr>
        <p:spPr>
          <a:xfrm>
            <a:off x="3447288" y="1673352"/>
            <a:ext cx="2103120" cy="484632"/>
          </a:xfrm>
          <a:prstGeom prst="rect">
            <a:avLst/>
          </a:prstGeom>
          <a:noFill/>
        </p:spPr>
        <p:txBody>
          <a:bodyPr wrap="square">
            <a:spAutoFit/>
          </a:bodyPr>
          <a:lstStyle/>
          <a:p>
            <a:pPr>
              <a:defRPr sz="1250">
                <a:solidFill>
                  <a:srgbClr val="191F2B"/>
                </a:solidFill>
                <a:latin typeface="Aptos"/>
              </a:defRPr>
            </a:pPr>
            <a:r>
              <a:t>Transaction orchestration, records, receipt and reconciliation</a:t>
            </a:r>
          </a:p>
        </p:txBody>
      </p:sp>
      <p:sp>
        <p:nvSpPr>
          <p:cNvPr id="15" name="Rounded Rectangle 14"/>
          <p:cNvSpPr/>
          <p:nvPr/>
        </p:nvSpPr>
        <p:spPr>
          <a:xfrm>
            <a:off x="5897880" y="1143000"/>
            <a:ext cx="242316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97880" y="1143000"/>
            <a:ext cx="73152" cy="114300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8" y="1289304"/>
            <a:ext cx="2103120" cy="320040"/>
          </a:xfrm>
          <a:prstGeom prst="rect">
            <a:avLst/>
          </a:prstGeom>
          <a:noFill/>
        </p:spPr>
        <p:txBody>
          <a:bodyPr wrap="none">
            <a:spAutoFit/>
          </a:bodyPr>
          <a:lstStyle/>
          <a:p>
            <a:pPr>
              <a:defRPr sz="1600" b="1">
                <a:solidFill>
                  <a:srgbClr val="133166"/>
                </a:solidFill>
                <a:latin typeface="Aptos"/>
              </a:defRPr>
            </a:pPr>
            <a:r>
              <a:t>FCMB / Acquirer</a:t>
            </a:r>
          </a:p>
        </p:txBody>
      </p:sp>
      <p:sp>
        <p:nvSpPr>
          <p:cNvPr id="18" name="TextBox 17"/>
          <p:cNvSpPr txBox="1"/>
          <p:nvPr/>
        </p:nvSpPr>
        <p:spPr>
          <a:xfrm>
            <a:off x="6099048" y="1673352"/>
            <a:ext cx="2103120" cy="484632"/>
          </a:xfrm>
          <a:prstGeom prst="rect">
            <a:avLst/>
          </a:prstGeom>
          <a:noFill/>
        </p:spPr>
        <p:txBody>
          <a:bodyPr wrap="square">
            <a:spAutoFit/>
          </a:bodyPr>
          <a:lstStyle/>
          <a:p>
            <a:pPr>
              <a:defRPr sz="1250">
                <a:solidFill>
                  <a:srgbClr val="191F2B"/>
                </a:solidFill>
                <a:latin typeface="Aptos"/>
              </a:defRPr>
            </a:pPr>
            <a:r>
              <a:t>MID / TID, card processing, acquiring controls and settlement</a:t>
            </a:r>
          </a:p>
        </p:txBody>
      </p:sp>
      <p:sp>
        <p:nvSpPr>
          <p:cNvPr id="19" name="Rounded Rectangle 18"/>
          <p:cNvSpPr/>
          <p:nvPr/>
        </p:nvSpPr>
        <p:spPr>
          <a:xfrm>
            <a:off x="8549640" y="1143000"/>
            <a:ext cx="274320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49640" y="1143000"/>
            <a:ext cx="73152" cy="114300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50808" y="1289304"/>
            <a:ext cx="2423160" cy="320040"/>
          </a:xfrm>
          <a:prstGeom prst="rect">
            <a:avLst/>
          </a:prstGeom>
          <a:noFill/>
        </p:spPr>
        <p:txBody>
          <a:bodyPr wrap="none">
            <a:spAutoFit/>
          </a:bodyPr>
          <a:lstStyle/>
          <a:p>
            <a:pPr>
              <a:defRPr sz="1600" b="1">
                <a:solidFill>
                  <a:srgbClr val="133166"/>
                </a:solidFill>
                <a:latin typeface="Aptos"/>
              </a:defRPr>
            </a:pPr>
            <a:r>
              <a:t>Merchant Account</a:t>
            </a:r>
          </a:p>
        </p:txBody>
      </p:sp>
      <p:sp>
        <p:nvSpPr>
          <p:cNvPr id="22" name="TextBox 21"/>
          <p:cNvSpPr txBox="1"/>
          <p:nvPr/>
        </p:nvSpPr>
        <p:spPr>
          <a:xfrm>
            <a:off x="8750808" y="1673352"/>
            <a:ext cx="2423160" cy="484632"/>
          </a:xfrm>
          <a:prstGeom prst="rect">
            <a:avLst/>
          </a:prstGeom>
          <a:noFill/>
        </p:spPr>
        <p:txBody>
          <a:bodyPr wrap="square">
            <a:spAutoFit/>
          </a:bodyPr>
          <a:lstStyle/>
          <a:p>
            <a:pPr>
              <a:defRPr sz="1250">
                <a:solidFill>
                  <a:srgbClr val="191F2B"/>
                </a:solidFill>
                <a:latin typeface="Aptos"/>
              </a:defRPr>
            </a:pPr>
            <a:r>
              <a:t>Settlement destination and banking relationship</a:t>
            </a:r>
          </a:p>
        </p:txBody>
      </p:sp>
      <p:sp>
        <p:nvSpPr>
          <p:cNvPr id="23" name="Chevron 22"/>
          <p:cNvSpPr/>
          <p:nvPr/>
        </p:nvSpPr>
        <p:spPr>
          <a:xfrm>
            <a:off x="2971800" y="1481328"/>
            <a:ext cx="228600" cy="457200"/>
          </a:xfrm>
          <a:prstGeom prst="chevron">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hevron 23"/>
          <p:cNvSpPr/>
          <p:nvPr/>
        </p:nvSpPr>
        <p:spPr>
          <a:xfrm>
            <a:off x="5623560" y="1481328"/>
            <a:ext cx="228600" cy="457200"/>
          </a:xfrm>
          <a:prstGeom prst="chevron">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evron 24"/>
          <p:cNvSpPr/>
          <p:nvPr/>
        </p:nvSpPr>
        <p:spPr>
          <a:xfrm>
            <a:off x="8275320" y="1481328"/>
            <a:ext cx="228600" cy="457200"/>
          </a:xfrm>
          <a:prstGeom prst="chevron">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743200"/>
            <a:ext cx="10515600" cy="3108960"/>
          </a:xfrm>
          <a:prstGeom prst="rect">
            <a:avLst/>
          </a:prstGeom>
          <a:noFill/>
        </p:spPr>
        <p:txBody>
          <a:bodyPr wrap="square">
            <a:spAutoFit/>
          </a:bodyPr>
          <a:lstStyle/>
          <a:p>
            <a:pPr>
              <a:spcAft>
                <a:spcPts val="800"/>
              </a:spcAft>
              <a:defRPr sz="1700">
                <a:solidFill>
                  <a:srgbClr val="191F2B"/>
                </a:solidFill>
                <a:latin typeface="Aptos"/>
              </a:defRPr>
            </a:pPr>
            <a:r>
              <a:t>• Current capabilities / integrations: payment collection, settlement workflows, virtual accounts, reconciliation, refunds/reversals and transaction status/requery.</a:t>
            </a:r>
          </a:p>
          <a:p>
            <a:pPr>
              <a:spcAft>
                <a:spcPts val="800"/>
              </a:spcAft>
              <a:defRPr sz="1700">
                <a:solidFill>
                  <a:srgbClr val="191F2B"/>
                </a:solidFill>
                <a:latin typeface="Aptos"/>
              </a:defRPr>
            </a:pPr>
            <a:r>
              <a:t>• Current external payment integration: Paystack; NIBSS/ISO implementation experience.</a:t>
            </a:r>
          </a:p>
          <a:p>
            <a:pPr>
              <a:spcAft>
                <a:spcPts val="800"/>
              </a:spcAft>
              <a:defRPr sz="1700">
                <a:solidFill>
                  <a:srgbClr val="191F2B"/>
                </a:solidFill>
                <a:latin typeface="Aptos"/>
              </a:defRPr>
            </a:pPr>
            <a:r>
              <a:t>• Proposed FCMB integration: acquiring → MID/TID → card processing → settlement → APIs → merchant account → certification → device acquiring.</a:t>
            </a:r>
          </a:p>
          <a:p>
            <a:pPr>
              <a:spcAft>
                <a:spcPts val="800"/>
              </a:spcAft>
              <a:defRPr sz="1700">
                <a:solidFill>
                  <a:srgbClr val="191F2B"/>
                </a:solidFill>
                <a:latin typeface="Aptos"/>
              </a:defRPr>
            </a:pPr>
            <a:r>
              <a:t>• Additional digital channels such as QR or payment links can be considered as part of the agreed roadmap.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The Control Loop: Collection → Settlement → Reconciliation</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PAYMENTS</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12</a:t>
            </a:r>
          </a:p>
        </p:txBody>
      </p:sp>
      <p:pic>
        <p:nvPicPr>
          <p:cNvPr id="7" name="Picture 6" descr="_crop_tmp.jpg"/>
          <p:cNvPicPr>
            <a:picLocks noChangeAspect="1"/>
          </p:cNvPicPr>
          <p:nvPr/>
        </p:nvPicPr>
        <p:blipFill>
          <a:blip r:embed="rId2"/>
          <a:stretch>
            <a:fillRect/>
          </a:stretch>
        </p:blipFill>
        <p:spPr>
          <a:xfrm>
            <a:off x="640080" y="1051560"/>
            <a:ext cx="3886200" cy="5394960"/>
          </a:xfrm>
          <a:prstGeom prst="rect">
            <a:avLst/>
          </a:prstGeom>
        </p:spPr>
      </p:pic>
      <p:pic>
        <p:nvPicPr>
          <p:cNvPr id="8" name="Picture 7" descr="_crop_tmp.jpg"/>
          <p:cNvPicPr>
            <a:picLocks noChangeAspect="1"/>
          </p:cNvPicPr>
          <p:nvPr/>
        </p:nvPicPr>
        <p:blipFill>
          <a:blip r:embed="rId3"/>
          <a:stretch>
            <a:fillRect/>
          </a:stretch>
        </p:blipFill>
        <p:spPr>
          <a:xfrm>
            <a:off x="4617720" y="1051560"/>
            <a:ext cx="3291840" cy="5394960"/>
          </a:xfrm>
          <a:prstGeom prst="rect">
            <a:avLst/>
          </a:prstGeom>
        </p:spPr>
      </p:pic>
      <p:pic>
        <p:nvPicPr>
          <p:cNvPr id="9" name="Picture 8" descr="_crop_tmp.jpg"/>
          <p:cNvPicPr>
            <a:picLocks noChangeAspect="1"/>
          </p:cNvPicPr>
          <p:nvPr/>
        </p:nvPicPr>
        <p:blipFill>
          <a:blip r:embed="rId4"/>
          <a:stretch>
            <a:fillRect/>
          </a:stretch>
        </p:blipFill>
        <p:spPr>
          <a:xfrm>
            <a:off x="8092440" y="1051560"/>
            <a:ext cx="3429000" cy="53949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Customer Journey: From Bill to Settlement</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JOURNEY</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13</a:t>
            </a:r>
          </a:p>
        </p:txBody>
      </p:sp>
      <p:sp>
        <p:nvSpPr>
          <p:cNvPr id="7" name="Oval 6"/>
          <p:cNvSpPr/>
          <p:nvPr/>
        </p:nvSpPr>
        <p:spPr>
          <a:xfrm>
            <a:off x="548640" y="1417320"/>
            <a:ext cx="594360" cy="594360"/>
          </a:xfrm>
          <a:prstGeom prst="ellipse">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8" name="TextBox 7"/>
          <p:cNvSpPr txBox="1"/>
          <p:nvPr/>
        </p:nvSpPr>
        <p:spPr>
          <a:xfrm>
            <a:off x="411480" y="2148840"/>
            <a:ext cx="1097280" cy="502920"/>
          </a:xfrm>
          <a:prstGeom prst="rect">
            <a:avLst/>
          </a:prstGeom>
          <a:noFill/>
        </p:spPr>
        <p:txBody>
          <a:bodyPr wrap="none">
            <a:spAutoFit/>
          </a:bodyPr>
          <a:lstStyle/>
          <a:p>
            <a:pPr algn="ctr">
              <a:defRPr sz="1400" b="1">
                <a:solidFill>
                  <a:srgbClr val="133166"/>
                </a:solidFill>
              </a:defRPr>
            </a:pPr>
            <a:r>
              <a:t>Create</a:t>
            </a:r>
          </a:p>
        </p:txBody>
      </p:sp>
      <p:sp>
        <p:nvSpPr>
          <p:cNvPr id="9" name="TextBox 8"/>
          <p:cNvSpPr txBox="1"/>
          <p:nvPr/>
        </p:nvSpPr>
        <p:spPr>
          <a:xfrm>
            <a:off x="137160" y="2788920"/>
            <a:ext cx="1645920" cy="1143000"/>
          </a:xfrm>
          <a:prstGeom prst="rect">
            <a:avLst/>
          </a:prstGeom>
          <a:noFill/>
        </p:spPr>
        <p:txBody>
          <a:bodyPr wrap="none">
            <a:spAutoFit/>
          </a:bodyPr>
          <a:lstStyle/>
          <a:p>
            <a:pPr algn="ctr">
              <a:defRPr sz="1150">
                <a:solidFill>
                  <a:srgbClr val="191F2B"/>
                </a:solidFill>
              </a:defRPr>
            </a:pPr>
            <a:r>
              <a:t>Merchant creates bill, invoice or sale</a:t>
            </a:r>
          </a:p>
        </p:txBody>
      </p:sp>
      <p:sp>
        <p:nvSpPr>
          <p:cNvPr id="10" name="Chevron 9"/>
          <p:cNvSpPr/>
          <p:nvPr/>
        </p:nvSpPr>
        <p:spPr>
          <a:xfrm>
            <a:off x="1298448"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487168" y="1417320"/>
            <a:ext cx="594360" cy="594360"/>
          </a:xfrm>
          <a:prstGeom prst="ellipse">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2" name="TextBox 11"/>
          <p:cNvSpPr txBox="1"/>
          <p:nvPr/>
        </p:nvSpPr>
        <p:spPr>
          <a:xfrm>
            <a:off x="2350008" y="2148840"/>
            <a:ext cx="1097280" cy="502920"/>
          </a:xfrm>
          <a:prstGeom prst="rect">
            <a:avLst/>
          </a:prstGeom>
          <a:noFill/>
        </p:spPr>
        <p:txBody>
          <a:bodyPr wrap="none">
            <a:spAutoFit/>
          </a:bodyPr>
          <a:lstStyle/>
          <a:p>
            <a:pPr algn="ctr">
              <a:defRPr sz="1400" b="1">
                <a:solidFill>
                  <a:srgbClr val="133166"/>
                </a:solidFill>
              </a:defRPr>
            </a:pPr>
            <a:r>
              <a:t>Identify</a:t>
            </a:r>
          </a:p>
        </p:txBody>
      </p:sp>
      <p:sp>
        <p:nvSpPr>
          <p:cNvPr id="13" name="TextBox 12"/>
          <p:cNvSpPr txBox="1"/>
          <p:nvPr/>
        </p:nvSpPr>
        <p:spPr>
          <a:xfrm>
            <a:off x="2075688" y="2788920"/>
            <a:ext cx="1645920" cy="1143000"/>
          </a:xfrm>
          <a:prstGeom prst="rect">
            <a:avLst/>
          </a:prstGeom>
          <a:noFill/>
        </p:spPr>
        <p:txBody>
          <a:bodyPr wrap="none">
            <a:spAutoFit/>
          </a:bodyPr>
          <a:lstStyle/>
          <a:p>
            <a:pPr algn="ctr">
              <a:defRPr sz="1150">
                <a:solidFill>
                  <a:srgbClr val="191F2B"/>
                </a:solidFill>
              </a:defRPr>
            </a:pPr>
            <a:r>
              <a:t>Customer/student/job is linked</a:t>
            </a:r>
          </a:p>
        </p:txBody>
      </p:sp>
      <p:sp>
        <p:nvSpPr>
          <p:cNvPr id="14" name="Chevron 13"/>
          <p:cNvSpPr/>
          <p:nvPr/>
        </p:nvSpPr>
        <p:spPr>
          <a:xfrm>
            <a:off x="3236976"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25696" y="1417320"/>
            <a:ext cx="594360" cy="594360"/>
          </a:xfrm>
          <a:prstGeom prst="ellipse">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6" name="TextBox 15"/>
          <p:cNvSpPr txBox="1"/>
          <p:nvPr/>
        </p:nvSpPr>
        <p:spPr>
          <a:xfrm>
            <a:off x="4288536" y="2148840"/>
            <a:ext cx="1097280" cy="502920"/>
          </a:xfrm>
          <a:prstGeom prst="rect">
            <a:avLst/>
          </a:prstGeom>
          <a:noFill/>
        </p:spPr>
        <p:txBody>
          <a:bodyPr wrap="none">
            <a:spAutoFit/>
          </a:bodyPr>
          <a:lstStyle/>
          <a:p>
            <a:pPr algn="ctr">
              <a:defRPr sz="1400" b="1">
                <a:solidFill>
                  <a:srgbClr val="133166"/>
                </a:solidFill>
              </a:defRPr>
            </a:pPr>
            <a:r>
              <a:t>Collect</a:t>
            </a:r>
          </a:p>
        </p:txBody>
      </p:sp>
      <p:sp>
        <p:nvSpPr>
          <p:cNvPr id="17" name="TextBox 16"/>
          <p:cNvSpPr txBox="1"/>
          <p:nvPr/>
        </p:nvSpPr>
        <p:spPr>
          <a:xfrm>
            <a:off x="4014216" y="2788920"/>
            <a:ext cx="1645920" cy="1143000"/>
          </a:xfrm>
          <a:prstGeom prst="rect">
            <a:avLst/>
          </a:prstGeom>
          <a:noFill/>
        </p:spPr>
        <p:txBody>
          <a:bodyPr wrap="none">
            <a:spAutoFit/>
          </a:bodyPr>
          <a:lstStyle/>
          <a:p>
            <a:pPr algn="ctr">
              <a:defRPr sz="1150">
                <a:solidFill>
                  <a:srgbClr val="191F2B"/>
                </a:solidFill>
              </a:defRPr>
            </a:pPr>
            <a:r>
              <a:t>Cash, transfer, wallet/VA or card</a:t>
            </a:r>
          </a:p>
        </p:txBody>
      </p:sp>
      <p:sp>
        <p:nvSpPr>
          <p:cNvPr id="18" name="Chevron 17"/>
          <p:cNvSpPr/>
          <p:nvPr/>
        </p:nvSpPr>
        <p:spPr>
          <a:xfrm>
            <a:off x="5175504"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64224" y="1417320"/>
            <a:ext cx="594360" cy="594360"/>
          </a:xfrm>
          <a:prstGeom prst="ellipse">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20" name="TextBox 19"/>
          <p:cNvSpPr txBox="1"/>
          <p:nvPr/>
        </p:nvSpPr>
        <p:spPr>
          <a:xfrm>
            <a:off x="6227064" y="2148840"/>
            <a:ext cx="1097280" cy="502920"/>
          </a:xfrm>
          <a:prstGeom prst="rect">
            <a:avLst/>
          </a:prstGeom>
          <a:noFill/>
        </p:spPr>
        <p:txBody>
          <a:bodyPr wrap="none">
            <a:spAutoFit/>
          </a:bodyPr>
          <a:lstStyle/>
          <a:p>
            <a:pPr algn="ctr">
              <a:defRPr sz="1400" b="1">
                <a:solidFill>
                  <a:srgbClr val="133166"/>
                </a:solidFill>
              </a:defRPr>
            </a:pPr>
            <a:r>
              <a:t>Confirm</a:t>
            </a:r>
          </a:p>
        </p:txBody>
      </p:sp>
      <p:sp>
        <p:nvSpPr>
          <p:cNvPr id="21" name="TextBox 20"/>
          <p:cNvSpPr txBox="1"/>
          <p:nvPr/>
        </p:nvSpPr>
        <p:spPr>
          <a:xfrm>
            <a:off x="5952744" y="2788920"/>
            <a:ext cx="1645920" cy="1143000"/>
          </a:xfrm>
          <a:prstGeom prst="rect">
            <a:avLst/>
          </a:prstGeom>
          <a:noFill/>
        </p:spPr>
        <p:txBody>
          <a:bodyPr wrap="none">
            <a:spAutoFit/>
          </a:bodyPr>
          <a:lstStyle/>
          <a:p>
            <a:pPr algn="ctr">
              <a:defRPr sz="1150">
                <a:solidFill>
                  <a:srgbClr val="191F2B"/>
                </a:solidFill>
              </a:defRPr>
            </a:pPr>
            <a:r>
              <a:t>Transaction status and receipt</a:t>
            </a:r>
          </a:p>
        </p:txBody>
      </p:sp>
      <p:sp>
        <p:nvSpPr>
          <p:cNvPr id="22" name="Chevron 21"/>
          <p:cNvSpPr/>
          <p:nvPr/>
        </p:nvSpPr>
        <p:spPr>
          <a:xfrm>
            <a:off x="7114032"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02752" y="1417320"/>
            <a:ext cx="594360" cy="594360"/>
          </a:xfrm>
          <a:prstGeom prst="ellipse">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5</a:t>
            </a:r>
          </a:p>
        </p:txBody>
      </p:sp>
      <p:sp>
        <p:nvSpPr>
          <p:cNvPr id="24" name="TextBox 23"/>
          <p:cNvSpPr txBox="1"/>
          <p:nvPr/>
        </p:nvSpPr>
        <p:spPr>
          <a:xfrm>
            <a:off x="8165592" y="2148840"/>
            <a:ext cx="1097280" cy="502920"/>
          </a:xfrm>
          <a:prstGeom prst="rect">
            <a:avLst/>
          </a:prstGeom>
          <a:noFill/>
        </p:spPr>
        <p:txBody>
          <a:bodyPr wrap="none">
            <a:spAutoFit/>
          </a:bodyPr>
          <a:lstStyle/>
          <a:p>
            <a:pPr algn="ctr">
              <a:defRPr sz="1400" b="1">
                <a:solidFill>
                  <a:srgbClr val="133166"/>
                </a:solidFill>
              </a:defRPr>
            </a:pPr>
            <a:r>
              <a:t>Settle</a:t>
            </a:r>
          </a:p>
        </p:txBody>
      </p:sp>
      <p:sp>
        <p:nvSpPr>
          <p:cNvPr id="25" name="TextBox 24"/>
          <p:cNvSpPr txBox="1"/>
          <p:nvPr/>
        </p:nvSpPr>
        <p:spPr>
          <a:xfrm>
            <a:off x="7891272" y="2788920"/>
            <a:ext cx="1645920" cy="1143000"/>
          </a:xfrm>
          <a:prstGeom prst="rect">
            <a:avLst/>
          </a:prstGeom>
          <a:noFill/>
        </p:spPr>
        <p:txBody>
          <a:bodyPr wrap="none">
            <a:spAutoFit/>
          </a:bodyPr>
          <a:lstStyle/>
          <a:p>
            <a:pPr algn="ctr">
              <a:defRPr sz="1150">
                <a:solidFill>
                  <a:srgbClr val="191F2B"/>
                </a:solidFill>
              </a:defRPr>
            </a:pPr>
            <a:r>
              <a:t>Acquirer settles to merchant account</a:t>
            </a:r>
          </a:p>
        </p:txBody>
      </p:sp>
      <p:sp>
        <p:nvSpPr>
          <p:cNvPr id="26" name="Chevron 25"/>
          <p:cNvSpPr/>
          <p:nvPr/>
        </p:nvSpPr>
        <p:spPr>
          <a:xfrm>
            <a:off x="9052560"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241280" y="1417320"/>
            <a:ext cx="594360" cy="594360"/>
          </a:xfrm>
          <a:prstGeom prst="ellipse">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6</a:t>
            </a:r>
          </a:p>
        </p:txBody>
      </p:sp>
      <p:sp>
        <p:nvSpPr>
          <p:cNvPr id="28" name="TextBox 27"/>
          <p:cNvSpPr txBox="1"/>
          <p:nvPr/>
        </p:nvSpPr>
        <p:spPr>
          <a:xfrm>
            <a:off x="10104120" y="2148840"/>
            <a:ext cx="1097280" cy="502920"/>
          </a:xfrm>
          <a:prstGeom prst="rect">
            <a:avLst/>
          </a:prstGeom>
          <a:noFill/>
        </p:spPr>
        <p:txBody>
          <a:bodyPr wrap="none">
            <a:spAutoFit/>
          </a:bodyPr>
          <a:lstStyle/>
          <a:p>
            <a:pPr algn="ctr">
              <a:defRPr sz="1400" b="1">
                <a:solidFill>
                  <a:srgbClr val="133166"/>
                </a:solidFill>
              </a:defRPr>
            </a:pPr>
            <a:r>
              <a:t>Reconcile</a:t>
            </a:r>
          </a:p>
        </p:txBody>
      </p:sp>
      <p:sp>
        <p:nvSpPr>
          <p:cNvPr id="29" name="TextBox 28"/>
          <p:cNvSpPr txBox="1"/>
          <p:nvPr/>
        </p:nvSpPr>
        <p:spPr>
          <a:xfrm>
            <a:off x="9829800" y="2788920"/>
            <a:ext cx="1645920" cy="1143000"/>
          </a:xfrm>
          <a:prstGeom prst="rect">
            <a:avLst/>
          </a:prstGeom>
          <a:noFill/>
        </p:spPr>
        <p:txBody>
          <a:bodyPr wrap="none">
            <a:spAutoFit/>
          </a:bodyPr>
          <a:lstStyle/>
          <a:p>
            <a:pPr algn="ctr">
              <a:defRPr sz="1150">
                <a:solidFill>
                  <a:srgbClr val="191F2B"/>
                </a:solidFill>
              </a:defRPr>
            </a:pPr>
            <a:r>
              <a:t>Invify matches collection to business record</a:t>
            </a:r>
          </a:p>
        </p:txBody>
      </p:sp>
      <p:sp>
        <p:nvSpPr>
          <p:cNvPr id="30" name="Rounded Rectangle 29"/>
          <p:cNvSpPr/>
          <p:nvPr/>
        </p:nvSpPr>
        <p:spPr>
          <a:xfrm>
            <a:off x="914400" y="4800600"/>
            <a:ext cx="10241280" cy="10058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4400" y="4800600"/>
            <a:ext cx="73152" cy="100584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15568" y="4946904"/>
            <a:ext cx="9921240" cy="320040"/>
          </a:xfrm>
          <a:prstGeom prst="rect">
            <a:avLst/>
          </a:prstGeom>
          <a:noFill/>
        </p:spPr>
        <p:txBody>
          <a:bodyPr wrap="none">
            <a:spAutoFit/>
          </a:bodyPr>
          <a:lstStyle/>
          <a:p>
            <a:pPr>
              <a:defRPr sz="1600" b="1">
                <a:solidFill>
                  <a:srgbClr val="133166"/>
                </a:solidFill>
                <a:latin typeface="Aptos"/>
              </a:defRPr>
            </a:pPr>
            <a:r>
              <a:t>Key value</a:t>
            </a:r>
          </a:p>
        </p:txBody>
      </p:sp>
      <p:sp>
        <p:nvSpPr>
          <p:cNvPr id="33" name="TextBox 32"/>
          <p:cNvSpPr txBox="1"/>
          <p:nvPr/>
        </p:nvSpPr>
        <p:spPr>
          <a:xfrm>
            <a:off x="1115568" y="5330952"/>
            <a:ext cx="9921240" cy="347472"/>
          </a:xfrm>
          <a:prstGeom prst="rect">
            <a:avLst/>
          </a:prstGeom>
          <a:noFill/>
        </p:spPr>
        <p:txBody>
          <a:bodyPr wrap="square">
            <a:spAutoFit/>
          </a:bodyPr>
          <a:lstStyle/>
          <a:p>
            <a:pPr>
              <a:defRPr sz="1250">
                <a:solidFill>
                  <a:srgbClr val="191F2B"/>
                </a:solidFill>
                <a:latin typeface="Aptos"/>
              </a:defRPr>
            </a:pPr>
            <a:r>
              <a:t>Invify connects the business event to the payment event and gives the merchant a single operational record.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Dotroid: The Managed Device Layer</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DEVICE MANAGEMENT</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14</a:t>
            </a:r>
          </a:p>
        </p:txBody>
      </p:sp>
      <p:pic>
        <p:nvPicPr>
          <p:cNvPr id="7" name="Picture 6" descr="_crop_tmp.jpg"/>
          <p:cNvPicPr>
            <a:picLocks noChangeAspect="1"/>
          </p:cNvPicPr>
          <p:nvPr/>
        </p:nvPicPr>
        <p:blipFill>
          <a:blip r:embed="rId2"/>
          <a:stretch>
            <a:fillRect/>
          </a:stretch>
        </p:blipFill>
        <p:spPr>
          <a:xfrm>
            <a:off x="640080" y="1051560"/>
            <a:ext cx="3474720" cy="5303520"/>
          </a:xfrm>
          <a:prstGeom prst="rect">
            <a:avLst/>
          </a:prstGeom>
        </p:spPr>
      </p:pic>
      <p:pic>
        <p:nvPicPr>
          <p:cNvPr id="8" name="Picture 7" descr="_crop_tmp.jpg"/>
          <p:cNvPicPr>
            <a:picLocks noChangeAspect="1"/>
          </p:cNvPicPr>
          <p:nvPr/>
        </p:nvPicPr>
        <p:blipFill>
          <a:blip r:embed="rId3"/>
          <a:stretch>
            <a:fillRect/>
          </a:stretch>
        </p:blipFill>
        <p:spPr>
          <a:xfrm>
            <a:off x="4389120" y="1051560"/>
            <a:ext cx="3474720" cy="5303520"/>
          </a:xfrm>
          <a:prstGeom prst="rect">
            <a:avLst/>
          </a:prstGeom>
        </p:spPr>
      </p:pic>
      <p:sp>
        <p:nvSpPr>
          <p:cNvPr id="9" name="TextBox 8"/>
          <p:cNvSpPr txBox="1"/>
          <p:nvPr/>
        </p:nvSpPr>
        <p:spPr>
          <a:xfrm>
            <a:off x="8138160" y="1325880"/>
            <a:ext cx="3200400" cy="4297680"/>
          </a:xfrm>
          <a:prstGeom prst="rect">
            <a:avLst/>
          </a:prstGeom>
          <a:noFill/>
        </p:spPr>
        <p:txBody>
          <a:bodyPr wrap="square">
            <a:spAutoFit/>
          </a:bodyPr>
          <a:lstStyle/>
          <a:p>
            <a:pPr>
              <a:spcAft>
                <a:spcPts val="800"/>
              </a:spcAft>
              <a:defRPr sz="1600">
                <a:solidFill>
                  <a:srgbClr val="191F2B"/>
                </a:solidFill>
                <a:latin typeface="Aptos"/>
              </a:defRPr>
            </a:pPr>
            <a:r>
              <a:t>• Launcher / controlled home experience</a:t>
            </a:r>
          </a:p>
          <a:p>
            <a:pPr>
              <a:spcAft>
                <a:spcPts val="800"/>
              </a:spcAft>
              <a:defRPr sz="1600">
                <a:solidFill>
                  <a:srgbClr val="191F2B"/>
                </a:solidFill>
                <a:latin typeface="Aptos"/>
              </a:defRPr>
            </a:pPr>
            <a:r>
              <a:t>• Kiosk and device-owner capabilities</a:t>
            </a:r>
          </a:p>
          <a:p>
            <a:pPr>
              <a:spcAft>
                <a:spcPts val="800"/>
              </a:spcAft>
              <a:defRPr sz="1600">
                <a:solidFill>
                  <a:srgbClr val="191F2B"/>
                </a:solidFill>
                <a:latin typeface="Aptos"/>
              </a:defRPr>
            </a:pPr>
            <a:r>
              <a:t>• Application control and managed device lifecycle</a:t>
            </a:r>
          </a:p>
          <a:p>
            <a:pPr>
              <a:spcAft>
                <a:spcPts val="800"/>
              </a:spcAft>
              <a:defRPr sz="1600">
                <a:solidFill>
                  <a:srgbClr val="191F2B"/>
                </a:solidFill>
                <a:latin typeface="Aptos"/>
              </a:defRPr>
            </a:pPr>
            <a:r>
              <a:t>• Device heartbeat / telemetry and remote management</a:t>
            </a:r>
          </a:p>
          <a:p>
            <a:pPr>
              <a:spcAft>
                <a:spcPts val="800"/>
              </a:spcAft>
              <a:defRPr sz="1600">
                <a:solidFill>
                  <a:srgbClr val="191F2B"/>
                </a:solidFill>
                <a:latin typeface="Aptos"/>
              </a:defRPr>
            </a:pPr>
            <a:r>
              <a:t>• Location and recovery capabilities</a:t>
            </a:r>
          </a:p>
          <a:p>
            <a:pPr>
              <a:spcAft>
                <a:spcPts val="800"/>
              </a:spcAft>
              <a:defRPr sz="1600">
                <a:solidFill>
                  <a:srgbClr val="191F2B"/>
                </a:solidFill>
                <a:latin typeface="Aptos"/>
              </a:defRPr>
            </a:pPr>
            <a:r>
              <a:t>• Designed as an additional control layer around the Smart mPOS device</a:t>
            </a:r>
          </a:p>
        </p:txBody>
      </p:sp>
      <p:sp>
        <p:nvSpPr>
          <p:cNvPr id="10" name="Rounded Rectangle 9"/>
          <p:cNvSpPr/>
          <p:nvPr/>
        </p:nvSpPr>
        <p:spPr>
          <a:xfrm>
            <a:off x="8138160" y="5257800"/>
            <a:ext cx="3200400" cy="8229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0" y="5257800"/>
            <a:ext cx="73152" cy="82296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9328" y="5404104"/>
            <a:ext cx="2880360" cy="320040"/>
          </a:xfrm>
          <a:prstGeom prst="rect">
            <a:avLst/>
          </a:prstGeom>
          <a:noFill/>
        </p:spPr>
        <p:txBody>
          <a:bodyPr wrap="none">
            <a:spAutoFit/>
          </a:bodyPr>
          <a:lstStyle/>
          <a:p>
            <a:pPr>
              <a:defRPr sz="1600" b="1">
                <a:solidFill>
                  <a:srgbClr val="133166"/>
                </a:solidFill>
                <a:latin typeface="Aptos"/>
              </a:defRPr>
            </a:pPr>
            <a:r>
              <a:t>Positioning</a:t>
            </a:r>
          </a:p>
        </p:txBody>
      </p:sp>
      <p:sp>
        <p:nvSpPr>
          <p:cNvPr id="13" name="TextBox 12"/>
          <p:cNvSpPr txBox="1"/>
          <p:nvPr/>
        </p:nvSpPr>
        <p:spPr>
          <a:xfrm>
            <a:off x="8339328" y="5788152"/>
            <a:ext cx="2880360" cy="164592"/>
          </a:xfrm>
          <a:prstGeom prst="rect">
            <a:avLst/>
          </a:prstGeom>
          <a:noFill/>
        </p:spPr>
        <p:txBody>
          <a:bodyPr wrap="square">
            <a:spAutoFit/>
          </a:bodyPr>
          <a:lstStyle/>
          <a:p>
            <a:pPr>
              <a:defRPr sz="1250">
                <a:solidFill>
                  <a:srgbClr val="191F2B"/>
                </a:solidFill>
                <a:latin typeface="Aptos"/>
              </a:defRPr>
            </a:pPr>
            <a:r>
              <a:t>Dotroid is complementary: device control + security + lifecycle management.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Why the Tablet + Payment Device Model?</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DIFFERENTIATION</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15</a:t>
            </a:r>
          </a:p>
        </p:txBody>
      </p:sp>
      <p:pic>
        <p:nvPicPr>
          <p:cNvPr id="7" name="Picture 6" descr="_crop_tmp.jpg"/>
          <p:cNvPicPr>
            <a:picLocks noChangeAspect="1"/>
          </p:cNvPicPr>
          <p:nvPr/>
        </p:nvPicPr>
        <p:blipFill>
          <a:blip r:embed="rId2"/>
          <a:stretch>
            <a:fillRect/>
          </a:stretch>
        </p:blipFill>
        <p:spPr>
          <a:xfrm>
            <a:off x="640080" y="1051560"/>
            <a:ext cx="4023360" cy="5257800"/>
          </a:xfrm>
          <a:prstGeom prst="rect">
            <a:avLst/>
          </a:prstGeom>
        </p:spPr>
      </p:pic>
      <p:sp>
        <p:nvSpPr>
          <p:cNvPr id="8" name="Rounded Rectangle 7"/>
          <p:cNvSpPr/>
          <p:nvPr/>
        </p:nvSpPr>
        <p:spPr>
          <a:xfrm>
            <a:off x="4983480" y="1143000"/>
            <a:ext cx="274320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83480" y="11430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84648" y="1289304"/>
            <a:ext cx="2423160" cy="320040"/>
          </a:xfrm>
          <a:prstGeom prst="rect">
            <a:avLst/>
          </a:prstGeom>
          <a:noFill/>
        </p:spPr>
        <p:txBody>
          <a:bodyPr wrap="none">
            <a:spAutoFit/>
          </a:bodyPr>
          <a:lstStyle/>
          <a:p>
            <a:pPr>
              <a:defRPr sz="1600" b="1">
                <a:solidFill>
                  <a:srgbClr val="133166"/>
                </a:solidFill>
                <a:latin typeface="Aptos"/>
              </a:defRPr>
            </a:pPr>
            <a:r>
              <a:t>Richer interface</a:t>
            </a:r>
          </a:p>
        </p:txBody>
      </p:sp>
      <p:sp>
        <p:nvSpPr>
          <p:cNvPr id="11" name="TextBox 10"/>
          <p:cNvSpPr txBox="1"/>
          <p:nvPr/>
        </p:nvSpPr>
        <p:spPr>
          <a:xfrm>
            <a:off x="5184648" y="1673352"/>
            <a:ext cx="2423160" cy="576072"/>
          </a:xfrm>
          <a:prstGeom prst="rect">
            <a:avLst/>
          </a:prstGeom>
          <a:noFill/>
        </p:spPr>
        <p:txBody>
          <a:bodyPr wrap="square">
            <a:spAutoFit/>
          </a:bodyPr>
          <a:lstStyle/>
          <a:p>
            <a:pPr>
              <a:defRPr sz="1250">
                <a:solidFill>
                  <a:srgbClr val="191F2B"/>
                </a:solidFill>
                <a:latin typeface="Aptos"/>
              </a:defRPr>
            </a:pPr>
            <a:r>
              <a:t>Large screen for guided payment, invoicing, records and analytics.</a:t>
            </a:r>
          </a:p>
        </p:txBody>
      </p:sp>
      <p:sp>
        <p:nvSpPr>
          <p:cNvPr id="12" name="Rounded Rectangle 11"/>
          <p:cNvSpPr/>
          <p:nvPr/>
        </p:nvSpPr>
        <p:spPr>
          <a:xfrm>
            <a:off x="8001000" y="1143000"/>
            <a:ext cx="274320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114300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2168" y="1289304"/>
            <a:ext cx="2423160" cy="320040"/>
          </a:xfrm>
          <a:prstGeom prst="rect">
            <a:avLst/>
          </a:prstGeom>
          <a:noFill/>
        </p:spPr>
        <p:txBody>
          <a:bodyPr wrap="none">
            <a:spAutoFit/>
          </a:bodyPr>
          <a:lstStyle/>
          <a:p>
            <a:pPr>
              <a:defRPr sz="1600" b="1">
                <a:solidFill>
                  <a:srgbClr val="133166"/>
                </a:solidFill>
                <a:latin typeface="Aptos"/>
              </a:defRPr>
            </a:pPr>
            <a:r>
              <a:t>Merchant-ready</a:t>
            </a:r>
          </a:p>
        </p:txBody>
      </p:sp>
      <p:sp>
        <p:nvSpPr>
          <p:cNvPr id="15" name="TextBox 14"/>
          <p:cNvSpPr txBox="1"/>
          <p:nvPr/>
        </p:nvSpPr>
        <p:spPr>
          <a:xfrm>
            <a:off x="8202168" y="1673352"/>
            <a:ext cx="2423160" cy="576072"/>
          </a:xfrm>
          <a:prstGeom prst="rect">
            <a:avLst/>
          </a:prstGeom>
          <a:noFill/>
        </p:spPr>
        <p:txBody>
          <a:bodyPr wrap="square">
            <a:spAutoFit/>
          </a:bodyPr>
          <a:lstStyle/>
          <a:p>
            <a:pPr>
              <a:defRPr sz="1250">
                <a:solidFill>
                  <a:srgbClr val="191F2B"/>
                </a:solidFill>
                <a:latin typeface="Aptos"/>
              </a:defRPr>
            </a:pPr>
            <a:r>
              <a:t>Portable, presentable and designed for customer-facing operations.</a:t>
            </a:r>
          </a:p>
        </p:txBody>
      </p:sp>
      <p:sp>
        <p:nvSpPr>
          <p:cNvPr id="16" name="Rounded Rectangle 15"/>
          <p:cNvSpPr/>
          <p:nvPr/>
        </p:nvSpPr>
        <p:spPr>
          <a:xfrm>
            <a:off x="4983480" y="2697480"/>
            <a:ext cx="274320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83480" y="269748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84648" y="2843784"/>
            <a:ext cx="2423160" cy="320040"/>
          </a:xfrm>
          <a:prstGeom prst="rect">
            <a:avLst/>
          </a:prstGeom>
          <a:noFill/>
        </p:spPr>
        <p:txBody>
          <a:bodyPr wrap="none">
            <a:spAutoFit/>
          </a:bodyPr>
          <a:lstStyle/>
          <a:p>
            <a:pPr>
              <a:defRPr sz="1600" b="1">
                <a:solidFill>
                  <a:srgbClr val="133166"/>
                </a:solidFill>
                <a:latin typeface="Aptos"/>
              </a:defRPr>
            </a:pPr>
            <a:r>
              <a:t>Operational depth</a:t>
            </a:r>
          </a:p>
        </p:txBody>
      </p:sp>
      <p:sp>
        <p:nvSpPr>
          <p:cNvPr id="19" name="TextBox 18"/>
          <p:cNvSpPr txBox="1"/>
          <p:nvPr/>
        </p:nvSpPr>
        <p:spPr>
          <a:xfrm>
            <a:off x="5184648" y="3227832"/>
            <a:ext cx="2423160" cy="576072"/>
          </a:xfrm>
          <a:prstGeom prst="rect">
            <a:avLst/>
          </a:prstGeom>
          <a:noFill/>
        </p:spPr>
        <p:txBody>
          <a:bodyPr wrap="square">
            <a:spAutoFit/>
          </a:bodyPr>
          <a:lstStyle/>
          <a:p>
            <a:pPr>
              <a:defRPr sz="1250">
                <a:solidFill>
                  <a:srgbClr val="191F2B"/>
                </a:solidFill>
                <a:latin typeface="Aptos"/>
              </a:defRPr>
            </a:pPr>
            <a:r>
              <a:t>More memory/storage for richer applications and offline-oriented workflows.</a:t>
            </a:r>
          </a:p>
        </p:txBody>
      </p:sp>
      <p:sp>
        <p:nvSpPr>
          <p:cNvPr id="20" name="Rounded Rectangle 19"/>
          <p:cNvSpPr/>
          <p:nvPr/>
        </p:nvSpPr>
        <p:spPr>
          <a:xfrm>
            <a:off x="8001000" y="2697480"/>
            <a:ext cx="274320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01000" y="2697480"/>
            <a:ext cx="73152" cy="123444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02168" y="2843784"/>
            <a:ext cx="2423160" cy="320040"/>
          </a:xfrm>
          <a:prstGeom prst="rect">
            <a:avLst/>
          </a:prstGeom>
          <a:noFill/>
        </p:spPr>
        <p:txBody>
          <a:bodyPr wrap="none">
            <a:spAutoFit/>
          </a:bodyPr>
          <a:lstStyle/>
          <a:p>
            <a:pPr>
              <a:defRPr sz="1600" b="1">
                <a:solidFill>
                  <a:srgbClr val="133166"/>
                </a:solidFill>
                <a:latin typeface="Aptos"/>
              </a:defRPr>
            </a:pPr>
            <a:r>
              <a:t>Dedicated payment</a:t>
            </a:r>
          </a:p>
        </p:txBody>
      </p:sp>
      <p:sp>
        <p:nvSpPr>
          <p:cNvPr id="23" name="TextBox 22"/>
          <p:cNvSpPr txBox="1"/>
          <p:nvPr/>
        </p:nvSpPr>
        <p:spPr>
          <a:xfrm>
            <a:off x="8202168" y="3227832"/>
            <a:ext cx="2423160" cy="576072"/>
          </a:xfrm>
          <a:prstGeom prst="rect">
            <a:avLst/>
          </a:prstGeom>
          <a:noFill/>
        </p:spPr>
        <p:txBody>
          <a:bodyPr wrap="square">
            <a:spAutoFit/>
          </a:bodyPr>
          <a:lstStyle/>
          <a:p>
            <a:pPr>
              <a:defRPr sz="1250">
                <a:solidFill>
                  <a:srgbClr val="191F2B"/>
                </a:solidFill>
                <a:latin typeface="Aptos"/>
              </a:defRPr>
            </a:pPr>
            <a:r>
              <a:t>Separate card device provides chip + PIN payment acceptance.</a:t>
            </a:r>
          </a:p>
        </p:txBody>
      </p:sp>
      <p:sp>
        <p:nvSpPr>
          <p:cNvPr id="24" name="Rounded Rectangle 23"/>
          <p:cNvSpPr/>
          <p:nvPr/>
        </p:nvSpPr>
        <p:spPr>
          <a:xfrm>
            <a:off x="4983480" y="4251960"/>
            <a:ext cx="576072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83480" y="4251960"/>
            <a:ext cx="73152" cy="123444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84648" y="4398264"/>
            <a:ext cx="5440680" cy="320040"/>
          </a:xfrm>
          <a:prstGeom prst="rect">
            <a:avLst/>
          </a:prstGeom>
          <a:noFill/>
        </p:spPr>
        <p:txBody>
          <a:bodyPr wrap="none">
            <a:spAutoFit/>
          </a:bodyPr>
          <a:lstStyle/>
          <a:p>
            <a:pPr>
              <a:defRPr sz="1600" b="1">
                <a:solidFill>
                  <a:srgbClr val="133166"/>
                </a:solidFill>
                <a:latin typeface="Aptos"/>
              </a:defRPr>
            </a:pPr>
            <a:r>
              <a:t>Important distinction</a:t>
            </a:r>
          </a:p>
        </p:txBody>
      </p:sp>
      <p:sp>
        <p:nvSpPr>
          <p:cNvPr id="27" name="TextBox 26"/>
          <p:cNvSpPr txBox="1"/>
          <p:nvPr/>
        </p:nvSpPr>
        <p:spPr>
          <a:xfrm>
            <a:off x="5184648" y="4782312"/>
            <a:ext cx="5440680" cy="576072"/>
          </a:xfrm>
          <a:prstGeom prst="rect">
            <a:avLst/>
          </a:prstGeom>
          <a:noFill/>
        </p:spPr>
        <p:txBody>
          <a:bodyPr wrap="square">
            <a:spAutoFit/>
          </a:bodyPr>
          <a:lstStyle/>
          <a:p>
            <a:pPr>
              <a:defRPr sz="1250">
                <a:solidFill>
                  <a:srgbClr val="191F2B"/>
                </a:solidFill>
                <a:latin typeface="Aptos"/>
              </a:defRPr>
            </a:pPr>
            <a:r>
              <a:t>Invify is not replacing FCMB's existing POS estate. The Smart mPOS is a complementary form factor and merchant experience.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Target Market &amp; Use Cases</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GO-TO-MARKET</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16</a:t>
            </a:r>
          </a:p>
        </p:txBody>
      </p:sp>
      <p:sp>
        <p:nvSpPr>
          <p:cNvPr id="7" name="Rounded Rectangle 6"/>
          <p:cNvSpPr/>
          <p:nvPr/>
        </p:nvSpPr>
        <p:spPr>
          <a:xfrm>
            <a:off x="685800" y="1143000"/>
            <a:ext cx="3474720" cy="43891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143000"/>
            <a:ext cx="73152" cy="438912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289304"/>
            <a:ext cx="3154680" cy="320040"/>
          </a:xfrm>
          <a:prstGeom prst="rect">
            <a:avLst/>
          </a:prstGeom>
          <a:noFill/>
        </p:spPr>
        <p:txBody>
          <a:bodyPr wrap="none">
            <a:spAutoFit/>
          </a:bodyPr>
          <a:lstStyle/>
          <a:p>
            <a:pPr>
              <a:defRPr sz="1600" b="1">
                <a:solidFill>
                  <a:srgbClr val="133166"/>
                </a:solidFill>
                <a:latin typeface="Aptos"/>
              </a:defRPr>
            </a:pPr>
            <a:r>
              <a:t>01  Schools</a:t>
            </a:r>
          </a:p>
        </p:txBody>
      </p:sp>
      <p:sp>
        <p:nvSpPr>
          <p:cNvPr id="10" name="TextBox 9"/>
          <p:cNvSpPr txBox="1"/>
          <p:nvPr/>
        </p:nvSpPr>
        <p:spPr>
          <a:xfrm>
            <a:off x="886968" y="1673352"/>
            <a:ext cx="3154680" cy="3730752"/>
          </a:xfrm>
          <a:prstGeom prst="rect">
            <a:avLst/>
          </a:prstGeom>
          <a:noFill/>
        </p:spPr>
        <p:txBody>
          <a:bodyPr wrap="square">
            <a:spAutoFit/>
          </a:bodyPr>
          <a:lstStyle/>
          <a:p>
            <a:pPr>
              <a:defRPr sz="1250">
                <a:solidFill>
                  <a:srgbClr val="191F2B"/>
                </a:solidFill>
                <a:latin typeface="Aptos"/>
              </a:defRPr>
            </a:pPr>
            <a:r>
              <a:t>Fee billing</a:t>
            </a:r>
            <a:br/>
            <a:r>
              <a:t>Student/guardian records</a:t>
            </a:r>
            <a:br/>
            <a:r>
              <a:t>Collections</a:t>
            </a:r>
            <a:br/>
            <a:r>
              <a:t>Receipts</a:t>
            </a:r>
            <a:br/>
            <a:r>
              <a:t>Expected vs recovered</a:t>
            </a:r>
            <a:br/>
            <a:r>
              <a:t>Reconciliation</a:t>
            </a:r>
            <a:br/>
            <a:r>
              <a:t>Analytics</a:t>
            </a:r>
          </a:p>
        </p:txBody>
      </p:sp>
      <p:sp>
        <p:nvSpPr>
          <p:cNvPr id="11" name="Rounded Rectangle 10"/>
          <p:cNvSpPr/>
          <p:nvPr/>
        </p:nvSpPr>
        <p:spPr>
          <a:xfrm>
            <a:off x="4343400" y="1143000"/>
            <a:ext cx="3474720" cy="43891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143000"/>
            <a:ext cx="73152" cy="438912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1289304"/>
            <a:ext cx="3154680" cy="320040"/>
          </a:xfrm>
          <a:prstGeom prst="rect">
            <a:avLst/>
          </a:prstGeom>
          <a:noFill/>
        </p:spPr>
        <p:txBody>
          <a:bodyPr wrap="none">
            <a:spAutoFit/>
          </a:bodyPr>
          <a:lstStyle/>
          <a:p>
            <a:pPr>
              <a:defRPr sz="1600" b="1">
                <a:solidFill>
                  <a:srgbClr val="133166"/>
                </a:solidFill>
                <a:latin typeface="Aptos"/>
              </a:defRPr>
            </a:pPr>
            <a:r>
              <a:t>02  Retail</a:t>
            </a:r>
          </a:p>
        </p:txBody>
      </p:sp>
      <p:sp>
        <p:nvSpPr>
          <p:cNvPr id="14" name="TextBox 13"/>
          <p:cNvSpPr txBox="1"/>
          <p:nvPr/>
        </p:nvSpPr>
        <p:spPr>
          <a:xfrm>
            <a:off x="4544568" y="1673352"/>
            <a:ext cx="3154680" cy="3730752"/>
          </a:xfrm>
          <a:prstGeom prst="rect">
            <a:avLst/>
          </a:prstGeom>
          <a:noFill/>
        </p:spPr>
        <p:txBody>
          <a:bodyPr wrap="square">
            <a:spAutoFit/>
          </a:bodyPr>
          <a:lstStyle/>
          <a:p>
            <a:pPr>
              <a:defRPr sz="1250">
                <a:solidFill>
                  <a:srgbClr val="191F2B"/>
                </a:solidFill>
                <a:latin typeface="Aptos"/>
              </a:defRPr>
            </a:pPr>
            <a:r>
              <a:t>Sales workflows</a:t>
            </a:r>
            <a:br/>
            <a:r>
              <a:t>Inventory/materials</a:t>
            </a:r>
            <a:br/>
            <a:r>
              <a:t>Customer records</a:t>
            </a:r>
            <a:br/>
            <a:r>
              <a:t>Payment acceptance</a:t>
            </a:r>
            <a:br/>
            <a:r>
              <a:t>Receipts</a:t>
            </a:r>
            <a:br/>
            <a:r>
              <a:t>Transaction history</a:t>
            </a:r>
          </a:p>
        </p:txBody>
      </p:sp>
      <p:sp>
        <p:nvSpPr>
          <p:cNvPr id="15" name="Rounded Rectangle 14"/>
          <p:cNvSpPr/>
          <p:nvPr/>
        </p:nvSpPr>
        <p:spPr>
          <a:xfrm>
            <a:off x="8001000" y="1143000"/>
            <a:ext cx="3474720" cy="43891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143000"/>
            <a:ext cx="73152" cy="438912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2168" y="1289304"/>
            <a:ext cx="3154680" cy="320040"/>
          </a:xfrm>
          <a:prstGeom prst="rect">
            <a:avLst/>
          </a:prstGeom>
          <a:noFill/>
        </p:spPr>
        <p:txBody>
          <a:bodyPr wrap="none">
            <a:spAutoFit/>
          </a:bodyPr>
          <a:lstStyle/>
          <a:p>
            <a:pPr>
              <a:defRPr sz="1600" b="1">
                <a:solidFill>
                  <a:srgbClr val="133166"/>
                </a:solidFill>
                <a:latin typeface="Aptos"/>
              </a:defRPr>
            </a:pPr>
            <a:r>
              <a:t>03  Service / Artisans</a:t>
            </a:r>
          </a:p>
        </p:txBody>
      </p:sp>
      <p:sp>
        <p:nvSpPr>
          <p:cNvPr id="18" name="TextBox 17"/>
          <p:cNvSpPr txBox="1"/>
          <p:nvPr/>
        </p:nvSpPr>
        <p:spPr>
          <a:xfrm>
            <a:off x="8202168" y="1673352"/>
            <a:ext cx="3154680" cy="3730752"/>
          </a:xfrm>
          <a:prstGeom prst="rect">
            <a:avLst/>
          </a:prstGeom>
          <a:noFill/>
        </p:spPr>
        <p:txBody>
          <a:bodyPr wrap="square">
            <a:spAutoFit/>
          </a:bodyPr>
          <a:lstStyle/>
          <a:p>
            <a:pPr>
              <a:defRPr sz="1250">
                <a:solidFill>
                  <a:srgbClr val="191F2B"/>
                </a:solidFill>
                <a:latin typeface="Aptos"/>
              </a:defRPr>
            </a:pPr>
            <a:r>
              <a:t>Job creation</a:t>
            </a:r>
            <a:br/>
            <a:r>
              <a:t>Materials + labour</a:t>
            </a:r>
            <a:br/>
            <a:r>
              <a:t>Customer records</a:t>
            </a:r>
            <a:br/>
            <a:r>
              <a:t>Billing</a:t>
            </a:r>
            <a:br/>
            <a:r>
              <a:t>Payment collection</a:t>
            </a:r>
            <a:br/>
            <a:r>
              <a:t>Receipts</a:t>
            </a:r>
            <a:br/>
            <a:r>
              <a:t>Payment history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Business Model</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COMMERCIAL</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17</a:t>
            </a:r>
          </a:p>
        </p:txBody>
      </p:sp>
      <p:sp>
        <p:nvSpPr>
          <p:cNvPr id="7" name="TextBox 6"/>
          <p:cNvSpPr txBox="1"/>
          <p:nvPr/>
        </p:nvSpPr>
        <p:spPr>
          <a:xfrm>
            <a:off x="777240" y="1234440"/>
            <a:ext cx="4572000" cy="4389120"/>
          </a:xfrm>
          <a:prstGeom prst="rect">
            <a:avLst/>
          </a:prstGeom>
          <a:noFill/>
        </p:spPr>
        <p:txBody>
          <a:bodyPr wrap="square">
            <a:spAutoFit/>
          </a:bodyPr>
          <a:lstStyle/>
          <a:p>
            <a:pPr>
              <a:spcAft>
                <a:spcPts val="800"/>
              </a:spcAft>
              <a:defRPr sz="2000">
                <a:solidFill>
                  <a:srgbClr val="191F2B"/>
                </a:solidFill>
                <a:latin typeface="Aptos"/>
              </a:defRPr>
            </a:pPr>
            <a:r>
              <a:t>• Monthly SaaS subscription</a:t>
            </a:r>
          </a:p>
          <a:p>
            <a:pPr>
              <a:spcAft>
                <a:spcPts val="800"/>
              </a:spcAft>
              <a:defRPr sz="2000">
                <a:solidFill>
                  <a:srgbClr val="191F2B"/>
                </a:solidFill>
                <a:latin typeface="Aptos"/>
              </a:defRPr>
            </a:pPr>
            <a:r>
              <a:t>• Device sale</a:t>
            </a:r>
          </a:p>
          <a:p>
            <a:pPr>
              <a:spcAft>
                <a:spcPts val="800"/>
              </a:spcAft>
              <a:defRPr sz="2000">
                <a:solidFill>
                  <a:srgbClr val="191F2B"/>
                </a:solidFill>
                <a:latin typeface="Aptos"/>
              </a:defRPr>
            </a:pPr>
            <a:r>
              <a:t>• Transaction fee</a:t>
            </a:r>
          </a:p>
          <a:p>
            <a:pPr>
              <a:spcAft>
                <a:spcPts val="800"/>
              </a:spcAft>
              <a:defRPr sz="2000">
                <a:solidFill>
                  <a:srgbClr val="191F2B"/>
                </a:solidFill>
                <a:latin typeface="Aptos"/>
              </a:defRPr>
            </a:pPr>
            <a:r>
              <a:t>• Payment revenue share</a:t>
            </a:r>
          </a:p>
          <a:p>
            <a:pPr>
              <a:spcAft>
                <a:spcPts val="800"/>
              </a:spcAft>
              <a:defRPr sz="2000">
                <a:solidFill>
                  <a:srgbClr val="191F2B"/>
                </a:solidFill>
                <a:latin typeface="Aptos"/>
              </a:defRPr>
            </a:pPr>
            <a:r>
              <a:t>• Enterprise licensing</a:t>
            </a:r>
          </a:p>
          <a:p>
            <a:pPr>
              <a:spcAft>
                <a:spcPts val="800"/>
              </a:spcAft>
              <a:defRPr sz="2000">
                <a:solidFill>
                  <a:srgbClr val="191F2B"/>
                </a:solidFill>
                <a:latin typeface="Aptos"/>
              </a:defRPr>
            </a:pPr>
            <a:r>
              <a:t>• Support / service fee</a:t>
            </a:r>
          </a:p>
        </p:txBody>
      </p:sp>
      <p:sp>
        <p:nvSpPr>
          <p:cNvPr id="8" name="Rounded Rectangle 7"/>
          <p:cNvSpPr/>
          <p:nvPr/>
        </p:nvSpPr>
        <p:spPr>
          <a:xfrm>
            <a:off x="5852160" y="1143000"/>
            <a:ext cx="5029200" cy="12801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0" y="1143000"/>
            <a:ext cx="73152" cy="128016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53328" y="1289304"/>
            <a:ext cx="4709160" cy="320040"/>
          </a:xfrm>
          <a:prstGeom prst="rect">
            <a:avLst/>
          </a:prstGeom>
          <a:noFill/>
        </p:spPr>
        <p:txBody>
          <a:bodyPr wrap="none">
            <a:spAutoFit/>
          </a:bodyPr>
          <a:lstStyle/>
          <a:p>
            <a:pPr>
              <a:defRPr sz="1600" b="1">
                <a:solidFill>
                  <a:srgbClr val="133166"/>
                </a:solidFill>
                <a:latin typeface="Aptos"/>
              </a:defRPr>
            </a:pPr>
            <a:r>
              <a:t>Commercial principle</a:t>
            </a:r>
          </a:p>
        </p:txBody>
      </p:sp>
      <p:sp>
        <p:nvSpPr>
          <p:cNvPr id="11" name="TextBox 10"/>
          <p:cNvSpPr txBox="1"/>
          <p:nvPr/>
        </p:nvSpPr>
        <p:spPr>
          <a:xfrm>
            <a:off x="6053328" y="1673352"/>
            <a:ext cx="4709160" cy="621792"/>
          </a:xfrm>
          <a:prstGeom prst="rect">
            <a:avLst/>
          </a:prstGeom>
          <a:noFill/>
        </p:spPr>
        <p:txBody>
          <a:bodyPr wrap="square">
            <a:spAutoFit/>
          </a:bodyPr>
          <a:lstStyle/>
          <a:p>
            <a:pPr>
              <a:defRPr sz="1250">
                <a:solidFill>
                  <a:srgbClr val="191F2B"/>
                </a:solidFill>
                <a:latin typeface="Aptos"/>
              </a:defRPr>
            </a:pPr>
            <a:r>
              <a:t>The model can combine recurring software revenue with device economics and payment-related revenue, subject to FCMB's acquiring and commercial framework.</a:t>
            </a:r>
          </a:p>
        </p:txBody>
      </p:sp>
      <p:sp>
        <p:nvSpPr>
          <p:cNvPr id="12" name="Rounded Rectangle 11"/>
          <p:cNvSpPr/>
          <p:nvPr/>
        </p:nvSpPr>
        <p:spPr>
          <a:xfrm>
            <a:off x="5852160" y="2743200"/>
            <a:ext cx="5029200" cy="12801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60" y="2743200"/>
            <a:ext cx="73152" cy="128016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53328" y="2889504"/>
            <a:ext cx="4709160" cy="320040"/>
          </a:xfrm>
          <a:prstGeom prst="rect">
            <a:avLst/>
          </a:prstGeom>
          <a:noFill/>
        </p:spPr>
        <p:txBody>
          <a:bodyPr wrap="none">
            <a:spAutoFit/>
          </a:bodyPr>
          <a:lstStyle/>
          <a:p>
            <a:pPr>
              <a:defRPr sz="1600" b="1">
                <a:solidFill>
                  <a:srgbClr val="133166"/>
                </a:solidFill>
                <a:latin typeface="Aptos"/>
              </a:defRPr>
            </a:pPr>
            <a:r>
              <a:t>Bank opportunity</a:t>
            </a:r>
          </a:p>
        </p:txBody>
      </p:sp>
      <p:sp>
        <p:nvSpPr>
          <p:cNvPr id="15" name="TextBox 14"/>
          <p:cNvSpPr txBox="1"/>
          <p:nvPr/>
        </p:nvSpPr>
        <p:spPr>
          <a:xfrm>
            <a:off x="6053328" y="3273552"/>
            <a:ext cx="4709160" cy="621792"/>
          </a:xfrm>
          <a:prstGeom prst="rect">
            <a:avLst/>
          </a:prstGeom>
          <a:noFill/>
        </p:spPr>
        <p:txBody>
          <a:bodyPr wrap="square">
            <a:spAutoFit/>
          </a:bodyPr>
          <a:lstStyle/>
          <a:p>
            <a:pPr>
              <a:defRPr sz="1250">
                <a:solidFill>
                  <a:srgbClr val="191F2B"/>
                </a:solidFill>
                <a:latin typeface="Aptos"/>
              </a:defRPr>
            </a:pPr>
            <a:r>
              <a:t>Acquire/retain merchants while extending the bank's payment relationship into business workflows and collections.</a:t>
            </a:r>
          </a:p>
        </p:txBody>
      </p:sp>
      <p:sp>
        <p:nvSpPr>
          <p:cNvPr id="16" name="Rounded Rectangle 15"/>
          <p:cNvSpPr/>
          <p:nvPr/>
        </p:nvSpPr>
        <p:spPr>
          <a:xfrm>
            <a:off x="5852160" y="4343400"/>
            <a:ext cx="5029200" cy="12801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0" y="4343400"/>
            <a:ext cx="73152" cy="128016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53328" y="4489704"/>
            <a:ext cx="4709160" cy="320040"/>
          </a:xfrm>
          <a:prstGeom prst="rect">
            <a:avLst/>
          </a:prstGeom>
          <a:noFill/>
        </p:spPr>
        <p:txBody>
          <a:bodyPr wrap="none">
            <a:spAutoFit/>
          </a:bodyPr>
          <a:lstStyle/>
          <a:p>
            <a:pPr>
              <a:defRPr sz="1600" b="1">
                <a:solidFill>
                  <a:srgbClr val="133166"/>
                </a:solidFill>
                <a:latin typeface="Aptos"/>
              </a:defRPr>
            </a:pPr>
            <a:r>
              <a:t>Pilot approach</a:t>
            </a:r>
          </a:p>
        </p:txBody>
      </p:sp>
      <p:sp>
        <p:nvSpPr>
          <p:cNvPr id="19" name="TextBox 18"/>
          <p:cNvSpPr txBox="1"/>
          <p:nvPr/>
        </p:nvSpPr>
        <p:spPr>
          <a:xfrm>
            <a:off x="6053328" y="4873752"/>
            <a:ext cx="4709160" cy="621792"/>
          </a:xfrm>
          <a:prstGeom prst="rect">
            <a:avLst/>
          </a:prstGeom>
          <a:noFill/>
        </p:spPr>
        <p:txBody>
          <a:bodyPr wrap="square">
            <a:spAutoFit/>
          </a:bodyPr>
          <a:lstStyle/>
          <a:p>
            <a:pPr>
              <a:defRPr sz="1250">
                <a:solidFill>
                  <a:srgbClr val="191F2B"/>
                </a:solidFill>
                <a:latin typeface="Aptos"/>
              </a:defRPr>
            </a:pPr>
            <a:r>
              <a:t>Agree pricing, revenue share, device economics and merchant onboarding rules after technical/acquiring feasibility is confirmed.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FCMB × Invify: Proposed Partnership Model</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PARTNERSHIP</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18</a:t>
            </a:r>
          </a:p>
        </p:txBody>
      </p:sp>
      <p:sp>
        <p:nvSpPr>
          <p:cNvPr id="7" name="Rounded Rectangle 6"/>
          <p:cNvSpPr/>
          <p:nvPr/>
        </p:nvSpPr>
        <p:spPr>
          <a:xfrm>
            <a:off x="640080" y="1051560"/>
            <a:ext cx="5303520" cy="44805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051560"/>
            <a:ext cx="73152" cy="448056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197864"/>
            <a:ext cx="4983480" cy="320040"/>
          </a:xfrm>
          <a:prstGeom prst="rect">
            <a:avLst/>
          </a:prstGeom>
          <a:noFill/>
        </p:spPr>
        <p:txBody>
          <a:bodyPr wrap="none">
            <a:spAutoFit/>
          </a:bodyPr>
          <a:lstStyle/>
          <a:p>
            <a:pPr>
              <a:defRPr sz="1600" b="1">
                <a:solidFill>
                  <a:srgbClr val="133166"/>
                </a:solidFill>
                <a:latin typeface="Aptos"/>
              </a:defRPr>
            </a:pPr>
            <a:r>
              <a:t>FCMB / Bank &amp; Acquiring</a:t>
            </a:r>
          </a:p>
        </p:txBody>
      </p:sp>
      <p:sp>
        <p:nvSpPr>
          <p:cNvPr id="10" name="TextBox 9"/>
          <p:cNvSpPr txBox="1"/>
          <p:nvPr/>
        </p:nvSpPr>
        <p:spPr>
          <a:xfrm>
            <a:off x="841248" y="1581912"/>
            <a:ext cx="4983480" cy="3822192"/>
          </a:xfrm>
          <a:prstGeom prst="rect">
            <a:avLst/>
          </a:prstGeom>
          <a:noFill/>
        </p:spPr>
        <p:txBody>
          <a:bodyPr wrap="square">
            <a:spAutoFit/>
          </a:bodyPr>
          <a:lstStyle/>
          <a:p>
            <a:pPr>
              <a:defRPr sz="1250">
                <a:solidFill>
                  <a:srgbClr val="191F2B"/>
                </a:solidFill>
                <a:latin typeface="Aptos"/>
              </a:defRPr>
            </a:pPr>
            <a:r>
              <a:t>• Merchant account / banking relationship</a:t>
            </a:r>
            <a:br/>
            <a:r>
              <a:t>• Acquiring and card-processing infrastructure</a:t>
            </a:r>
            <a:br/>
            <a:r>
              <a:t>• MID / TID provisioning and lifecycle</a:t>
            </a:r>
            <a:br/>
            <a:r>
              <a:t>• Settlement</a:t>
            </a:r>
            <a:br/>
            <a:r>
              <a:t>• APIs / SDKs / integration specifications</a:t>
            </a:r>
            <a:br/>
            <a:r>
              <a:t>• Certification &amp; security requirements</a:t>
            </a:r>
            <a:br/>
            <a:r>
              <a:t>• Device acquiring / approved hardware process</a:t>
            </a:r>
            <a:br/>
            <a:r>
              <a:t>• Pilot and operational support</a:t>
            </a:r>
          </a:p>
        </p:txBody>
      </p:sp>
      <p:sp>
        <p:nvSpPr>
          <p:cNvPr id="11" name="Rounded Rectangle 10"/>
          <p:cNvSpPr/>
          <p:nvPr/>
        </p:nvSpPr>
        <p:spPr>
          <a:xfrm>
            <a:off x="6263640" y="1051560"/>
            <a:ext cx="5303520" cy="44805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051560"/>
            <a:ext cx="73152" cy="448056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197864"/>
            <a:ext cx="4983480" cy="320040"/>
          </a:xfrm>
          <a:prstGeom prst="rect">
            <a:avLst/>
          </a:prstGeom>
          <a:noFill/>
        </p:spPr>
        <p:txBody>
          <a:bodyPr wrap="none">
            <a:spAutoFit/>
          </a:bodyPr>
          <a:lstStyle/>
          <a:p>
            <a:pPr>
              <a:defRPr sz="1600" b="1">
                <a:solidFill>
                  <a:srgbClr val="133166"/>
                </a:solidFill>
                <a:latin typeface="Aptos"/>
              </a:defRPr>
            </a:pPr>
            <a:r>
              <a:t>Invify / Technology &amp; Merchant Layer</a:t>
            </a:r>
          </a:p>
        </p:txBody>
      </p:sp>
      <p:sp>
        <p:nvSpPr>
          <p:cNvPr id="14" name="TextBox 13"/>
          <p:cNvSpPr txBox="1"/>
          <p:nvPr/>
        </p:nvSpPr>
        <p:spPr>
          <a:xfrm>
            <a:off x="6464808" y="1581912"/>
            <a:ext cx="4983480" cy="3822192"/>
          </a:xfrm>
          <a:prstGeom prst="rect">
            <a:avLst/>
          </a:prstGeom>
          <a:noFill/>
        </p:spPr>
        <p:txBody>
          <a:bodyPr wrap="square">
            <a:spAutoFit/>
          </a:bodyPr>
          <a:lstStyle/>
          <a:p>
            <a:pPr>
              <a:defRPr sz="1250">
                <a:solidFill>
                  <a:srgbClr val="191F2B"/>
                </a:solidFill>
                <a:latin typeface="Aptos"/>
              </a:defRPr>
            </a:pPr>
            <a:r>
              <a:t>• Merchant platform and application</a:t>
            </a:r>
            <a:br/>
            <a:r>
              <a:t>• Billing / invoicing / collections</a:t>
            </a:r>
            <a:br/>
            <a:r>
              <a:t>• Smart mPOS experience</a:t>
            </a:r>
            <a:br/>
            <a:r>
              <a:t>• Reconciliation and reporting</a:t>
            </a:r>
            <a:br/>
            <a:r>
              <a:t>• Merchant onboarding workflow</a:t>
            </a:r>
            <a:br/>
            <a:r>
              <a:t>• Device/application integration</a:t>
            </a:r>
            <a:br/>
            <a:r>
              <a:t>• Dotroid device management layer</a:t>
            </a:r>
            <a:br/>
            <a:r>
              <a:t>• Merchant support / product operations</a:t>
            </a:r>
          </a:p>
        </p:txBody>
      </p:sp>
      <p:sp>
        <p:nvSpPr>
          <p:cNvPr id="15" name="Rounded Rectangle 14"/>
          <p:cNvSpPr/>
          <p:nvPr/>
        </p:nvSpPr>
        <p:spPr>
          <a:xfrm>
            <a:off x="2194560" y="5715000"/>
            <a:ext cx="7863840" cy="6400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94560" y="5715000"/>
            <a:ext cx="73152" cy="64008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95728" y="5861304"/>
            <a:ext cx="7543800" cy="320040"/>
          </a:xfrm>
          <a:prstGeom prst="rect">
            <a:avLst/>
          </a:prstGeom>
          <a:noFill/>
        </p:spPr>
        <p:txBody>
          <a:bodyPr wrap="none">
            <a:spAutoFit/>
          </a:bodyPr>
          <a:lstStyle/>
          <a:p>
            <a:pPr>
              <a:defRPr sz="1600" b="1">
                <a:solidFill>
                  <a:srgbClr val="133166"/>
                </a:solidFill>
                <a:latin typeface="Aptos"/>
              </a:defRPr>
            </a:pPr>
            <a:r>
              <a:t>Joint outcome</a:t>
            </a:r>
          </a:p>
        </p:txBody>
      </p:sp>
      <p:sp>
        <p:nvSpPr>
          <p:cNvPr id="18" name="TextBox 17"/>
          <p:cNvSpPr txBox="1"/>
          <p:nvPr/>
        </p:nvSpPr>
        <p:spPr>
          <a:xfrm>
            <a:off x="2395728" y="6245352"/>
            <a:ext cx="7543800" cy="-18288"/>
          </a:xfrm>
          <a:prstGeom prst="rect">
            <a:avLst/>
          </a:prstGeom>
          <a:noFill/>
        </p:spPr>
        <p:txBody>
          <a:bodyPr wrap="square">
            <a:spAutoFit/>
          </a:bodyPr>
          <a:lstStyle/>
          <a:p>
            <a:pPr>
              <a:defRPr sz="1250">
                <a:solidFill>
                  <a:srgbClr val="191F2B"/>
                </a:solidFill>
                <a:latin typeface="Aptos"/>
              </a:defRPr>
            </a:pPr>
            <a:r>
              <a:t>A controlled, bank-powered Smart mPOS and digital collections proposition for Nigerian merchants.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Proposed Pilot Framework</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NEXT STEP</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19</a:t>
            </a:r>
          </a:p>
        </p:txBody>
      </p:sp>
      <p:sp>
        <p:nvSpPr>
          <p:cNvPr id="7" name="TextBox 6"/>
          <p:cNvSpPr txBox="1"/>
          <p:nvPr/>
        </p:nvSpPr>
        <p:spPr>
          <a:xfrm>
            <a:off x="731520" y="1143000"/>
            <a:ext cx="10698480" cy="4389120"/>
          </a:xfrm>
          <a:prstGeom prst="rect">
            <a:avLst/>
          </a:prstGeom>
          <a:noFill/>
        </p:spPr>
        <p:txBody>
          <a:bodyPr wrap="square">
            <a:spAutoFit/>
          </a:bodyPr>
          <a:lstStyle/>
          <a:p>
            <a:pPr>
              <a:spcAft>
                <a:spcPts val="800"/>
              </a:spcAft>
              <a:defRPr sz="1700">
                <a:solidFill>
                  <a:srgbClr val="191F2B"/>
                </a:solidFill>
                <a:latin typeface="Aptos"/>
              </a:defRPr>
            </a:pPr>
            <a:r>
              <a:t>• Phase 1 — Technical alignment: confirm acquiring architecture, APIs/SDKs, device model, MID/TID process, certification and security requirements.</a:t>
            </a:r>
          </a:p>
          <a:p>
            <a:pPr>
              <a:spcAft>
                <a:spcPts val="800"/>
              </a:spcAft>
              <a:defRPr sz="1700">
                <a:solidFill>
                  <a:srgbClr val="191F2B"/>
                </a:solidFill>
                <a:latin typeface="Aptos"/>
              </a:defRPr>
            </a:pPr>
            <a:r>
              <a:t>• Phase 2 — Controlled integration: connect Invify to FCMB-approved payment services and settlement/reconciliation flows.</a:t>
            </a:r>
          </a:p>
          <a:p>
            <a:pPr>
              <a:spcAft>
                <a:spcPts val="800"/>
              </a:spcAft>
              <a:defRPr sz="1700">
                <a:solidFill>
                  <a:srgbClr val="191F2B"/>
                </a:solidFill>
                <a:latin typeface="Aptos"/>
              </a:defRPr>
            </a:pPr>
            <a:r>
              <a:t>• Phase 3 — Device certification: validate tablet + dedicated payment device combination under FCMB/acquirer requirements.</a:t>
            </a:r>
          </a:p>
          <a:p>
            <a:pPr>
              <a:spcAft>
                <a:spcPts val="800"/>
              </a:spcAft>
              <a:defRPr sz="1700">
                <a:solidFill>
                  <a:srgbClr val="191F2B"/>
                </a:solidFill>
                <a:latin typeface="Aptos"/>
              </a:defRPr>
            </a:pPr>
            <a:r>
              <a:t>• Phase 4 — Merchant pilot: deploy a controlled number of devices to selected merchants, with defined support and monitoring.</a:t>
            </a:r>
          </a:p>
          <a:p>
            <a:pPr>
              <a:spcAft>
                <a:spcPts val="800"/>
              </a:spcAft>
              <a:defRPr sz="1700">
                <a:solidFill>
                  <a:srgbClr val="191F2B"/>
                </a:solidFill>
                <a:latin typeface="Aptos"/>
              </a:defRPr>
            </a:pPr>
            <a:r>
              <a:t>• Phase 5 — Review: assess transaction performance, merchant adoption, settlement/reconciliation, operational issues and commercial viability.</a:t>
            </a:r>
          </a:p>
        </p:txBody>
      </p:sp>
      <p:sp>
        <p:nvSpPr>
          <p:cNvPr id="8" name="Rounded Rectangle 7"/>
          <p:cNvSpPr/>
          <p:nvPr/>
        </p:nvSpPr>
        <p:spPr>
          <a:xfrm>
            <a:off x="1828800" y="5623560"/>
            <a:ext cx="8503920" cy="6858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623560"/>
            <a:ext cx="73152" cy="6858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29968" y="5769864"/>
            <a:ext cx="8183880" cy="320040"/>
          </a:xfrm>
          <a:prstGeom prst="rect">
            <a:avLst/>
          </a:prstGeom>
          <a:noFill/>
        </p:spPr>
        <p:txBody>
          <a:bodyPr wrap="none">
            <a:spAutoFit/>
          </a:bodyPr>
          <a:lstStyle/>
          <a:p>
            <a:pPr>
              <a:defRPr sz="1600" b="1">
                <a:solidFill>
                  <a:srgbClr val="133166"/>
                </a:solidFill>
                <a:latin typeface="Aptos"/>
              </a:defRPr>
            </a:pPr>
            <a:r>
              <a:t>Pilot size &amp; duration</a:t>
            </a:r>
          </a:p>
        </p:txBody>
      </p:sp>
      <p:sp>
        <p:nvSpPr>
          <p:cNvPr id="11" name="TextBox 10"/>
          <p:cNvSpPr txBox="1"/>
          <p:nvPr/>
        </p:nvSpPr>
        <p:spPr>
          <a:xfrm>
            <a:off x="2029968" y="6153912"/>
            <a:ext cx="8183880" cy="27432"/>
          </a:xfrm>
          <a:prstGeom prst="rect">
            <a:avLst/>
          </a:prstGeom>
          <a:noFill/>
        </p:spPr>
        <p:txBody>
          <a:bodyPr wrap="square">
            <a:spAutoFit/>
          </a:bodyPr>
          <a:lstStyle/>
          <a:p>
            <a:pPr>
              <a:defRPr sz="1250">
                <a:solidFill>
                  <a:srgbClr val="191F2B"/>
                </a:solidFill>
                <a:latin typeface="Aptos"/>
              </a:defRPr>
            </a:pPr>
            <a:r>
              <a:t>To be agreed jointly after FCMB confirms certification and operational requirements.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Questions for FCMB</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DISCUSSION</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20</a:t>
            </a:r>
          </a:p>
        </p:txBody>
      </p:sp>
      <p:sp>
        <p:nvSpPr>
          <p:cNvPr id="7" name="TextBox 6"/>
          <p:cNvSpPr txBox="1"/>
          <p:nvPr/>
        </p:nvSpPr>
        <p:spPr>
          <a:xfrm>
            <a:off x="777240" y="1143000"/>
            <a:ext cx="10607040" cy="5120640"/>
          </a:xfrm>
          <a:prstGeom prst="rect">
            <a:avLst/>
          </a:prstGeom>
          <a:noFill/>
        </p:spPr>
        <p:txBody>
          <a:bodyPr wrap="square">
            <a:spAutoFit/>
          </a:bodyPr>
          <a:lstStyle/>
          <a:p>
            <a:pPr>
              <a:spcAft>
                <a:spcPts val="800"/>
              </a:spcAft>
              <a:defRPr sz="1700">
                <a:solidFill>
                  <a:srgbClr val="191F2B"/>
                </a:solidFill>
                <a:latin typeface="Aptos"/>
              </a:defRPr>
            </a:pPr>
            <a:r>
              <a:t>• Which FCMB acquiring architecture should Invify integrate with for Smart mPOS?</a:t>
            </a:r>
          </a:p>
          <a:p>
            <a:pPr>
              <a:spcAft>
                <a:spcPts val="800"/>
              </a:spcAft>
              <a:defRPr sz="1700">
                <a:solidFill>
                  <a:srgbClr val="191F2B"/>
                </a:solidFill>
                <a:latin typeface="Aptos"/>
              </a:defRPr>
            </a:pPr>
            <a:r>
              <a:t>• What card-processing APIs/SDKs and certification artefacts are required?</a:t>
            </a:r>
          </a:p>
          <a:p>
            <a:pPr>
              <a:spcAft>
                <a:spcPts val="800"/>
              </a:spcAft>
              <a:defRPr sz="1700">
                <a:solidFill>
                  <a:srgbClr val="191F2B"/>
                </a:solidFill>
                <a:latin typeface="Aptos"/>
              </a:defRPr>
            </a:pPr>
            <a:r>
              <a:t>• What is the process for MID/TID provisioning, key injection, device onboarding and lifecycle management?</a:t>
            </a:r>
          </a:p>
          <a:p>
            <a:pPr>
              <a:spcAft>
                <a:spcPts val="800"/>
              </a:spcAft>
              <a:defRPr sz="1700">
                <a:solidFill>
                  <a:srgbClr val="191F2B"/>
                </a:solidFill>
                <a:latin typeface="Aptos"/>
              </a:defRPr>
            </a:pPr>
            <a:r>
              <a:t>• What approved Smart mPOS/card-device models can FCMB support or certify?</a:t>
            </a:r>
          </a:p>
          <a:p>
            <a:pPr>
              <a:spcAft>
                <a:spcPts val="800"/>
              </a:spcAft>
              <a:defRPr sz="1700">
                <a:solidFill>
                  <a:srgbClr val="191F2B"/>
                </a:solidFill>
                <a:latin typeface="Aptos"/>
              </a:defRPr>
            </a:pPr>
            <a:r>
              <a:t>• How should settlement, refunds/reversals, requery and reconciliation be integrated?</a:t>
            </a:r>
          </a:p>
          <a:p>
            <a:pPr>
              <a:spcAft>
                <a:spcPts val="800"/>
              </a:spcAft>
              <a:defRPr sz="1700">
                <a:solidFill>
                  <a:srgbClr val="191F2B"/>
                </a:solidFill>
                <a:latin typeface="Aptos"/>
              </a:defRPr>
            </a:pPr>
            <a:r>
              <a:t>• What merchant KYC, risk, monitoring and operational requirements apply?</a:t>
            </a:r>
          </a:p>
          <a:p>
            <a:pPr>
              <a:spcAft>
                <a:spcPts val="800"/>
              </a:spcAft>
              <a:defRPr sz="1700">
                <a:solidFill>
                  <a:srgbClr val="191F2B"/>
                </a:solidFill>
                <a:latin typeface="Aptos"/>
              </a:defRPr>
            </a:pPr>
            <a:r>
              <a:t>• Which FCMB teams should own the business, technical and pilot workstreams?</a:t>
            </a:r>
          </a:p>
          <a:p>
            <a:pPr>
              <a:spcAft>
                <a:spcPts val="800"/>
              </a:spcAft>
              <a:defRPr sz="1700">
                <a:solidFill>
                  <a:srgbClr val="191F2B"/>
                </a:solidFill>
                <a:latin typeface="Aptos"/>
              </a:defRPr>
            </a:pPr>
            <a:r>
              <a:t>• What commercial structure would FCMB consider for the partnership?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Invify Team</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PEOPLE</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21</a:t>
            </a:r>
          </a:p>
        </p:txBody>
      </p:sp>
      <p:sp>
        <p:nvSpPr>
          <p:cNvPr id="7" name="Rounded Rectangle 6"/>
          <p:cNvSpPr/>
          <p:nvPr/>
        </p:nvSpPr>
        <p:spPr>
          <a:xfrm>
            <a:off x="822960" y="123444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463040"/>
            <a:ext cx="2880360" cy="457200"/>
          </a:xfrm>
          <a:prstGeom prst="rect">
            <a:avLst/>
          </a:prstGeom>
          <a:noFill/>
        </p:spPr>
        <p:txBody>
          <a:bodyPr wrap="none">
            <a:spAutoFit/>
          </a:bodyPr>
          <a:lstStyle/>
          <a:p>
            <a:pPr>
              <a:defRPr sz="1600" b="1">
                <a:solidFill>
                  <a:srgbClr val="133166"/>
                </a:solidFill>
                <a:latin typeface="Aptos"/>
              </a:defRPr>
            </a:pPr>
            <a:r>
              <a:t>Aramide Adebayo</a:t>
            </a:r>
          </a:p>
          <a:p>
            <a:pPr>
              <a:defRPr sz="1200">
                <a:solidFill>
                  <a:srgbClr val="5E6C80"/>
                </a:solidFill>
                <a:latin typeface="Aptos"/>
              </a:defRPr>
            </a:pPr>
            <a:r>
              <a:t>CEO</a:t>
            </a:r>
          </a:p>
        </p:txBody>
      </p:sp>
      <p:sp>
        <p:nvSpPr>
          <p:cNvPr id="9" name="Rounded Rectangle 8"/>
          <p:cNvSpPr/>
          <p:nvPr/>
        </p:nvSpPr>
        <p:spPr>
          <a:xfrm>
            <a:off x="4526280" y="123444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1463040"/>
            <a:ext cx="2880360" cy="457200"/>
          </a:xfrm>
          <a:prstGeom prst="rect">
            <a:avLst/>
          </a:prstGeom>
          <a:noFill/>
        </p:spPr>
        <p:txBody>
          <a:bodyPr wrap="none">
            <a:spAutoFit/>
          </a:bodyPr>
          <a:lstStyle/>
          <a:p>
            <a:pPr>
              <a:defRPr sz="1600" b="1">
                <a:solidFill>
                  <a:srgbClr val="133166"/>
                </a:solidFill>
                <a:latin typeface="Aptos"/>
              </a:defRPr>
            </a:pPr>
            <a:r>
              <a:t>Saliu Sherifdeen</a:t>
            </a:r>
          </a:p>
          <a:p>
            <a:pPr>
              <a:defRPr sz="1200">
                <a:solidFill>
                  <a:srgbClr val="5E6C80"/>
                </a:solidFill>
                <a:latin typeface="Aptos"/>
              </a:defRPr>
            </a:pPr>
            <a:r>
              <a:t>Team Member</a:t>
            </a:r>
          </a:p>
        </p:txBody>
      </p:sp>
      <p:sp>
        <p:nvSpPr>
          <p:cNvPr id="11" name="Rounded Rectangle 10"/>
          <p:cNvSpPr/>
          <p:nvPr/>
        </p:nvSpPr>
        <p:spPr>
          <a:xfrm>
            <a:off x="8229600" y="123444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463040"/>
            <a:ext cx="2880360" cy="457200"/>
          </a:xfrm>
          <a:prstGeom prst="rect">
            <a:avLst/>
          </a:prstGeom>
          <a:noFill/>
        </p:spPr>
        <p:txBody>
          <a:bodyPr wrap="none">
            <a:spAutoFit/>
          </a:bodyPr>
          <a:lstStyle/>
          <a:p>
            <a:pPr>
              <a:defRPr sz="1600" b="1">
                <a:solidFill>
                  <a:srgbClr val="133166"/>
                </a:solidFill>
                <a:latin typeface="Aptos"/>
              </a:defRPr>
            </a:pPr>
            <a:r>
              <a:t>Oluwele Temitope</a:t>
            </a:r>
          </a:p>
          <a:p>
            <a:pPr>
              <a:defRPr sz="1200">
                <a:solidFill>
                  <a:srgbClr val="5E6C80"/>
                </a:solidFill>
                <a:latin typeface="Aptos"/>
              </a:defRPr>
            </a:pPr>
            <a:r>
              <a:t>Team Member</a:t>
            </a:r>
          </a:p>
        </p:txBody>
      </p:sp>
      <p:sp>
        <p:nvSpPr>
          <p:cNvPr id="13" name="Rounded Rectangle 12"/>
          <p:cNvSpPr/>
          <p:nvPr/>
        </p:nvSpPr>
        <p:spPr>
          <a:xfrm>
            <a:off x="822960" y="315468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383280"/>
            <a:ext cx="2880360" cy="457200"/>
          </a:xfrm>
          <a:prstGeom prst="rect">
            <a:avLst/>
          </a:prstGeom>
          <a:noFill/>
        </p:spPr>
        <p:txBody>
          <a:bodyPr wrap="none">
            <a:spAutoFit/>
          </a:bodyPr>
          <a:lstStyle/>
          <a:p>
            <a:pPr>
              <a:defRPr sz="1600" b="1">
                <a:solidFill>
                  <a:srgbClr val="133166"/>
                </a:solidFill>
                <a:latin typeface="Aptos"/>
              </a:defRPr>
            </a:pPr>
            <a:r>
              <a:t>Adekunle Matthew</a:t>
            </a:r>
          </a:p>
          <a:p>
            <a:pPr>
              <a:defRPr sz="1200">
                <a:solidFill>
                  <a:srgbClr val="5E6C80"/>
                </a:solidFill>
                <a:latin typeface="Aptos"/>
              </a:defRPr>
            </a:pPr>
            <a:r>
              <a:t>Team Member</a:t>
            </a:r>
          </a:p>
        </p:txBody>
      </p:sp>
      <p:sp>
        <p:nvSpPr>
          <p:cNvPr id="15" name="Rounded Rectangle 14"/>
          <p:cNvSpPr/>
          <p:nvPr/>
        </p:nvSpPr>
        <p:spPr>
          <a:xfrm>
            <a:off x="4526280" y="315468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3383280"/>
            <a:ext cx="2880360" cy="457200"/>
          </a:xfrm>
          <a:prstGeom prst="rect">
            <a:avLst/>
          </a:prstGeom>
          <a:noFill/>
        </p:spPr>
        <p:txBody>
          <a:bodyPr wrap="none">
            <a:spAutoFit/>
          </a:bodyPr>
          <a:lstStyle/>
          <a:p>
            <a:pPr>
              <a:defRPr sz="1600" b="1">
                <a:solidFill>
                  <a:srgbClr val="133166"/>
                </a:solidFill>
                <a:latin typeface="Aptos"/>
              </a:defRPr>
            </a:pPr>
            <a:r>
              <a:t>Okafor Helen</a:t>
            </a:r>
          </a:p>
          <a:p>
            <a:pPr>
              <a:defRPr sz="1200">
                <a:solidFill>
                  <a:srgbClr val="5E6C80"/>
                </a:solidFill>
                <a:latin typeface="Aptos"/>
              </a:defRPr>
            </a:pPr>
            <a:r>
              <a:t>Team Member</a:t>
            </a:r>
          </a:p>
        </p:txBody>
      </p:sp>
      <p:sp>
        <p:nvSpPr>
          <p:cNvPr id="17" name="Rounded Rectangle 16"/>
          <p:cNvSpPr/>
          <p:nvPr/>
        </p:nvSpPr>
        <p:spPr>
          <a:xfrm>
            <a:off x="1737360" y="5257800"/>
            <a:ext cx="8686800" cy="7315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37360" y="5257800"/>
            <a:ext cx="73152" cy="73152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38528" y="5404104"/>
            <a:ext cx="8366760" cy="320040"/>
          </a:xfrm>
          <a:prstGeom prst="rect">
            <a:avLst/>
          </a:prstGeom>
          <a:noFill/>
        </p:spPr>
        <p:txBody>
          <a:bodyPr wrap="none">
            <a:spAutoFit/>
          </a:bodyPr>
          <a:lstStyle/>
          <a:p>
            <a:pPr>
              <a:defRPr sz="1600" b="1">
                <a:solidFill>
                  <a:srgbClr val="133166"/>
                </a:solidFill>
                <a:latin typeface="Aptos"/>
              </a:defRPr>
            </a:pPr>
            <a:r>
              <a:t>Presentation allocation</a:t>
            </a:r>
          </a:p>
        </p:txBody>
      </p:sp>
      <p:sp>
        <p:nvSpPr>
          <p:cNvPr id="20" name="TextBox 19"/>
          <p:cNvSpPr txBox="1"/>
          <p:nvPr/>
        </p:nvSpPr>
        <p:spPr>
          <a:xfrm>
            <a:off x="1938528" y="5788152"/>
            <a:ext cx="8366760" cy="73152"/>
          </a:xfrm>
          <a:prstGeom prst="rect">
            <a:avLst/>
          </a:prstGeom>
          <a:noFill/>
        </p:spPr>
        <p:txBody>
          <a:bodyPr wrap="square">
            <a:spAutoFit/>
          </a:bodyPr>
          <a:lstStyle/>
          <a:p>
            <a:pPr>
              <a:defRPr sz="1250">
                <a:solidFill>
                  <a:srgbClr val="191F2B"/>
                </a:solidFill>
                <a:latin typeface="Aptos"/>
              </a:defRPr>
            </a:pPr>
            <a:r>
              <a:t>Aramide — opening/partnership • Product lead — workflow • Payments lead — acquiring/reconciliation • Device lead — Smart mPOS/Dotroid • Team support — Q&amp;A/demo.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_crop_tmp.jpg"/>
          <p:cNvPicPr>
            <a:picLocks noChangeAspect="1"/>
          </p:cNvPicPr>
          <p:nvPr/>
        </p:nvPicPr>
        <p:blipFill>
          <a:blip r:embed="rId2"/>
          <a:stretch>
            <a:fillRect/>
          </a:stretch>
        </p:blipFill>
        <p:spPr>
          <a:xfrm>
            <a:off x="6675120" y="731520"/>
            <a:ext cx="4754880" cy="5394960"/>
          </a:xfrm>
          <a:prstGeom prst="rect">
            <a:avLst/>
          </a:prstGeom>
        </p:spPr>
      </p:pic>
      <p:sp>
        <p:nvSpPr>
          <p:cNvPr id="5" name="TextBox 4"/>
          <p:cNvSpPr txBox="1"/>
          <p:nvPr/>
        </p:nvSpPr>
        <p:spPr>
          <a:xfrm>
            <a:off x="731520" y="1097280"/>
            <a:ext cx="5486400" cy="1828800"/>
          </a:xfrm>
          <a:prstGeom prst="rect">
            <a:avLst/>
          </a:prstGeom>
          <a:noFill/>
        </p:spPr>
        <p:txBody>
          <a:bodyPr wrap="none">
            <a:spAutoFit/>
          </a:bodyPr>
          <a:lstStyle/>
          <a:p>
            <a:pPr>
              <a:defRPr sz="3800" b="1">
                <a:solidFill>
                  <a:srgbClr val="FFFFFF"/>
                </a:solidFill>
                <a:latin typeface="Aptos Display"/>
              </a:defRPr>
            </a:pPr>
            <a:r>
              <a:t>Thank You</a:t>
            </a:r>
          </a:p>
          <a:p>
            <a:pPr>
              <a:defRPr sz="2000">
                <a:solidFill>
                  <a:srgbClr val="E0A92A"/>
                </a:solidFill>
                <a:latin typeface="Aptos"/>
              </a:defRPr>
            </a:pPr>
            <a:r>
              <a:t>We look forward to exploring a practical FCMB × Invify pilot.</a:t>
            </a:r>
          </a:p>
          <a:p>
            <a:pPr>
              <a:defRPr sz="1500">
                <a:solidFill>
                  <a:srgbClr val="FFFFFF"/>
                </a:solidFill>
                <a:latin typeface="Aptos"/>
              </a:defRPr>
            </a:pPr>
            <a:r>
              <a:t>Smart mPOS • Digital Collections • Merchant Management</a:t>
            </a:r>
          </a:p>
        </p:txBody>
      </p:sp>
      <p:sp>
        <p:nvSpPr>
          <p:cNvPr id="6" name="TextBox 5"/>
          <p:cNvSpPr txBox="1"/>
          <p:nvPr/>
        </p:nvSpPr>
        <p:spPr>
          <a:xfrm>
            <a:off x="731520" y="4160520"/>
            <a:ext cx="5486400" cy="1371600"/>
          </a:xfrm>
          <a:prstGeom prst="rect">
            <a:avLst/>
          </a:prstGeom>
          <a:noFill/>
        </p:spPr>
        <p:txBody>
          <a:bodyPr wrap="none">
            <a:spAutoFit/>
          </a:bodyPr>
          <a:lstStyle/>
          <a:p>
            <a:pPr>
              <a:defRPr sz="1800" b="1">
                <a:solidFill>
                  <a:srgbClr val="FFFFFF"/>
                </a:solidFill>
                <a:latin typeface="Aptos"/>
              </a:defRPr>
            </a:pPr>
            <a:r>
              <a:t>Aramide Adebayo</a:t>
            </a:r>
          </a:p>
          <a:p>
            <a:pPr>
              <a:defRPr sz="1400">
                <a:solidFill>
                  <a:srgbClr val="DCE4F2"/>
                </a:solidFill>
                <a:latin typeface="Aptos"/>
              </a:defRPr>
            </a:pPr>
            <a:r>
              <a:t>CEO • IIPS / Invify</a:t>
            </a:r>
          </a:p>
          <a:p>
            <a:pPr>
              <a:defRPr sz="1300">
                <a:solidFill>
                  <a:srgbClr val="DCE4F2"/>
                </a:solidFill>
                <a:latin typeface="Aptos"/>
              </a:defRPr>
            </a:pPr>
            <a:r>
              <a:t>www.invify.org  |  support@iipa.app  |  0802355332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