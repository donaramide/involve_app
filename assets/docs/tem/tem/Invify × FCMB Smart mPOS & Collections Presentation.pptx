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</ns0:sldIdLst>
  <ns0:sldSz cx="12192000" cy="6858000" type="screen4x3"/>
  <ns0:notesSz cx="6858000" cy="9144000"/>
  <ns0:embeddedFontLst>
    <ns0:embeddedFont>
      <ns0:font typeface="Space Grotesk"/>
      <ns0:bold ns1:id="rIdFont29"/>
    </ns0:embeddedFont>
    <ns0:embeddedFont>
      <ns0:font typeface="Plus Jakarta Sans"/>
      <ns0:bold ns1:id="rIdFont30"/>
      <ns0:regular ns1:id="rIdFont3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Font29" Type="http://schemas.openxmlformats.org/officeDocument/2006/relationships/font" Target="fonts/a05b3143-5bf4-4e4c-8627-53f54bd9a552.fntdata" /><ns0:Relationship Id="rIdFont30" Type="http://schemas.openxmlformats.org/officeDocument/2006/relationships/font" Target="fonts/ec0118f0-e11e-4e4f-89ef-8b89c6a3bc64.fntdata" /><ns0:Relationship Id="rIdFont31" Type="http://schemas.openxmlformats.org/officeDocument/2006/relationships/font" Target="fonts/a346fd18-e3a9-4140-afd0-003da2463aca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3400" y="4647158"/>
            <a:ext cx="5867400" cy="514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71700" y="1696491"/>
            <a:ext cx="935384" cy="457200"/>
          </a:xfrm>
          <a:prstGeom prst="roundRect">
            <a:avLst>
              <a:gd name="adj" fmla="val 20833"/>
            </a:avLst>
          </a:prstGeom>
          <a:solidFill>
            <a:srgbClr val="5C1D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3400" y="4647158"/>
            <a:ext cx="5867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0"/>
            <a:ext cx="5257800" cy="6858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228600"/>
            <a:ext cx="4800600" cy="6400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696491"/>
            <a:ext cx="1209675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0" y="1753641"/>
            <a:ext cx="942975" cy="3429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2420391"/>
            <a:ext cx="733425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SPEAKER 1: OLUWELE TEMITOPE • OPENING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2668041"/>
            <a:ext cx="6260782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FFFFFF"/>
                </a:solidFill>
                <a:latin typeface="Space Grotesk"/>
              </a:rPr>
              <a:t>Smart mPOS &amp; Digital Collections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3828008"/>
            <a:ext cx="50482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Connecting school and merchant operations with FCMB acquiring infrastructure and secure managed hardware.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95475" y="1806029"/>
            <a:ext cx="4095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4A3B8"/>
                </a:solidFill>
                <a:latin typeface="Plus Jakarta Sans"/>
              </a:rPr>
              <a:t>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43150" y="1806029"/>
            <a:ext cx="878234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B703"/>
                </a:solidFill>
                <a:latin typeface="Plus Jakarta Sans"/>
              </a:rPr>
              <a:t>FCMB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4847183"/>
            <a:ext cx="1512093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4990058"/>
            <a:ext cx="1512093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Invify Technologies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71675" y="4847183"/>
            <a:ext cx="12096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HOST COMPANY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71675" y="4990058"/>
            <a:ext cx="12096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IIPS Limited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4200" y="4847183"/>
            <a:ext cx="2047875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64748B"/>
                </a:solidFill>
                <a:latin typeface="Plus Jakarta Sans"/>
              </a:rPr>
              <a:t>TARGET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24200" y="4990058"/>
            <a:ext cx="204787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FCMB Merchant Acquiring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3237"/>
            <a:ext cx="2600325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33725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33725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133725"/>
            <a:ext cx="2600325" cy="1524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43237"/>
            <a:ext cx="38100" cy="17049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00425" y="3133725"/>
            <a:ext cx="38100" cy="1524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91250" y="3133725"/>
            <a:ext cx="38100" cy="1524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82075" y="3133725"/>
            <a:ext cx="38100" cy="15240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1: OLUWELE TEMITOPE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Executive Session 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309937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SECTION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538537"/>
            <a:ext cx="27628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Foundation &amp;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300" y="3852862"/>
            <a:ext cx="2200275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Merchant payment disconnect.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4329112"/>
            <a:ext cx="2631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Lead: Aramide Adebayo (CEO)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7125" y="3400425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SECTION 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67125" y="3629025"/>
            <a:ext cx="27628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Product &amp; School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7125" y="3943350"/>
            <a:ext cx="2631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Live fee billing workflows.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7125" y="4238625"/>
            <a:ext cx="2631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Lead: Saliu Sheriffdeen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3400425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SECTION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3629025"/>
            <a:ext cx="27628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Smart mPOS &amp; Dotroid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3943350"/>
            <a:ext cx="2631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Hardware and kiosk security.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4238625"/>
            <a:ext cx="2631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Lead: Adekunle Matthew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48775" y="3400425"/>
            <a:ext cx="263128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SECTION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8775" y="3629025"/>
            <a:ext cx="276284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Settlement &amp; 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8775" y="3943350"/>
            <a:ext cx="2631281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Plus Jakarta Sans"/>
              </a:rPr>
              <a:t>FCMB acquiring partnership.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48775" y="4238625"/>
            <a:ext cx="263128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Lead: Adewunmi &amp; Helen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69406"/>
            <a:ext cx="3505200" cy="2052637"/>
          </a:xfrm>
          <a:prstGeom prst="roundRect">
            <a:avLst>
              <a:gd name="adj" fmla="val 556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69406"/>
            <a:ext cx="3505200" cy="2052637"/>
          </a:xfrm>
          <a:prstGeom prst="roundRect">
            <a:avLst>
              <a:gd name="adj" fmla="val 556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69406"/>
            <a:ext cx="3505200" cy="2052637"/>
          </a:xfrm>
          <a:prstGeom prst="roundRect">
            <a:avLst>
              <a:gd name="adj" fmla="val 5568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74206"/>
            <a:ext cx="228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3174206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174206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2: ARAMIDE ADEBAYO (CEO)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Company Overview &amp; Unified Proposition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31406"/>
            <a:ext cx="38004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Integrated Systems (IIPS)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4306"/>
            <a:ext cx="29908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Parent technology development company based in Lagos, engineering commercial payment applications.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3631406"/>
            <a:ext cx="38004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Invify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8200" y="3974306"/>
            <a:ext cx="29908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End-to-end merchant invoicing, student roster billing, and automated multi-channel payment reconciliation.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631406"/>
            <a:ext cx="38004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FCMB Partnership Goal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974306"/>
            <a:ext cx="29908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Combining bank acquiring infrastructure, TIDs, and settlement rails with our managed counter ecosystem.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16572"/>
            <a:ext cx="5334000" cy="2158305"/>
          </a:xfrm>
          <a:prstGeom prst="roundRect">
            <a:avLst>
              <a:gd name="adj" fmla="val 5295"/>
            </a:avLst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16572"/>
            <a:ext cx="5334000" cy="2158305"/>
          </a:xfrm>
          <a:prstGeom prst="roundRect">
            <a:avLst>
              <a:gd name="adj" fmla="val 5295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816572"/>
            <a:ext cx="38100" cy="2158305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2816572"/>
            <a:ext cx="38100" cy="215830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2: ARAMIDE ADEBAYO (CEO)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The Core Merchant Disconnect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2500" y="3121372"/>
            <a:ext cx="6150768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9F1239"/>
                </a:solidFill>
                <a:latin typeface="Space Grotesk"/>
              </a:rPr>
              <a:t>Conventional POS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502372"/>
            <a:ext cx="5857875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C0519"/>
                </a:solidFill>
                <a:latin typeface="Plus Jakarta Sans"/>
              </a:rPr>
              <a:t>Terminal accepts ₦100,000 without operational metadata.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1300" y="3121372"/>
            <a:ext cx="56007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4532D"/>
                </a:solidFill>
                <a:latin typeface="Space Grotesk"/>
              </a:rPr>
              <a:t>Invify Connected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91300" y="3502372"/>
            <a:ext cx="5600700" cy="2437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14532D"/>
                </a:solidFill>
                <a:latin typeface="Plus Jakarta Sans"/>
              </a:rPr>
              <a:t>Payment transaction binds directly to student records.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3898552"/>
            <a:ext cx="58578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881337"/>
                </a:solidFill>
                <a:latin typeface="Plus Jakarta Sans"/>
              </a:rPr>
              <a:t>No Context:</a:t>
            </a:r>
            <a:r>
              <a:rPr b="0" sz="1125" i="0" u="none">
                <a:solidFill>
                  <a:srgbClr val="881337"/>
                </a:solidFill>
                <a:latin typeface="Plus Jakarta Sans"/>
              </a:rPr>
              <a:t> Payer identity unknown at counter.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4155727"/>
            <a:ext cx="58578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881337"/>
                </a:solidFill>
                <a:latin typeface="Plus Jakarta Sans"/>
              </a:rPr>
              <a:t>No Billing Link:</a:t>
            </a:r>
            <a:r>
              <a:rPr b="0" sz="1125" i="0" u="none">
                <a:solidFill>
                  <a:srgbClr val="881337"/>
                </a:solidFill>
                <a:latin typeface="Plus Jakarta Sans"/>
              </a:rPr>
              <a:t> Cannot verify outstanding balances.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4412902"/>
            <a:ext cx="5857875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881337"/>
                </a:solidFill>
                <a:latin typeface="Plus Jakarta Sans"/>
              </a:rPr>
              <a:t>Manual Audits:</a:t>
            </a:r>
            <a:r>
              <a:rPr b="0" sz="1125" i="0" u="none">
                <a:solidFill>
                  <a:srgbClr val="881337"/>
                </a:solidFill>
                <a:latin typeface="Plus Jakarta Sans"/>
              </a:rPr>
              <a:t> End-of-month paperwork reconciliations.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1300" y="3898552"/>
            <a:ext cx="56007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166534"/>
                </a:solidFill>
                <a:latin typeface="Plus Jakarta Sans"/>
              </a:rPr>
              <a:t>Identity Bound:</a:t>
            </a:r>
            <a:r>
              <a:rPr b="0" sz="1125" i="0" u="none">
                <a:solidFill>
                  <a:srgbClr val="166534"/>
                </a:solidFill>
                <a:latin typeface="Plus Jakarta Sans"/>
              </a:rPr>
              <a:t> Linked to student and class term.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1300" y="4155727"/>
            <a:ext cx="56007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166534"/>
                </a:solidFill>
                <a:latin typeface="Plus Jakarta Sans"/>
              </a:rPr>
              <a:t>Automated Splits:</a:t>
            </a:r>
            <a:r>
              <a:rPr b="0" sz="1125" i="0" u="none">
                <a:solidFill>
                  <a:srgbClr val="166534"/>
                </a:solidFill>
                <a:latin typeface="Plus Jakarta Sans"/>
              </a:rPr>
              <a:t> Tuition, books, and uniforms tracked.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1300" y="4412902"/>
            <a:ext cx="5600700" cy="2571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1" sz="1125" i="0" u="none">
                <a:solidFill>
                  <a:srgbClr val="166534"/>
                </a:solidFill>
                <a:latin typeface="Plus Jakarta Sans"/>
              </a:rPr>
              <a:t>Instant Settlement:</a:t>
            </a:r>
            <a:r>
              <a:rPr b="0" sz="1125" i="0" u="none">
                <a:solidFill>
                  <a:srgbClr val="166534"/>
                </a:solidFill>
                <a:latin typeface="Plus Jakarta Sans"/>
              </a:rPr>
              <a:t> Real-time double-entry ledgers.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33650"/>
            <a:ext cx="5846415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467100"/>
            <a:ext cx="5846415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400550"/>
            <a:ext cx="5846415" cy="781050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3494" y="1857523"/>
            <a:ext cx="1514326" cy="40002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3: SALIU SHERIFFDEEN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Platform Overview: Connected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705100"/>
            <a:ext cx="712335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Fee &amp; Academic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971800"/>
            <a:ext cx="678414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Class tiers, student registries, and term billing structures.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638550"/>
            <a:ext cx="712335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Smart mPOS &amp; Thermal Printing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905250"/>
            <a:ext cx="678414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Card reader pair, physical receipt issuance, and cash logs.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4572000"/>
            <a:ext cx="7123351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Reconciliation &amp; NIBSS Cert Hub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838700"/>
            <a:ext cx="6784144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Centralized transaction audit trail and compliance gateway.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781800" y="2457450"/>
            <a:ext cx="480060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81800" y="3448050"/>
            <a:ext cx="480060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781800" y="4438650"/>
            <a:ext cx="4800600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024062"/>
            <a:ext cx="5867400" cy="36671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3: SALIU SHERIFFDEEN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Primary Use Case: Educational Billing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72300" y="2647950"/>
            <a:ext cx="52197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Itemized Cart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2300" y="2914650"/>
            <a:ext cx="5219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Tuition, uniforms, textbooks, and extracurriculars in one checkout.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2300" y="3638550"/>
            <a:ext cx="52197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Roster Binding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72300" y="3905250"/>
            <a:ext cx="5219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Instant assignment to registered student or external payer profile.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72300" y="4629150"/>
            <a:ext cx="52197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Custom Discounts &amp; Terms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2300" y="4895850"/>
            <a:ext cx="52197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Multi-child concessions and flexible installment schedules.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70177" y="3338512"/>
            <a:ext cx="6112222" cy="1104900"/>
          </a:xfrm>
          <a:prstGeom prst="roundRect">
            <a:avLst>
              <a:gd name="adj" fmla="val 862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70177" y="4614862"/>
            <a:ext cx="6112222" cy="904875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70177" y="2195512"/>
            <a:ext cx="2979985" cy="971550"/>
          </a:xfrm>
          <a:prstGeom prst="roundRect">
            <a:avLst>
              <a:gd name="adj" fmla="val 9803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02563" y="2195512"/>
            <a:ext cx="2979985" cy="971550"/>
          </a:xfrm>
          <a:prstGeom prst="roundRect">
            <a:avLst>
              <a:gd name="adj" fmla="val 9803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084" y="1809750"/>
            <a:ext cx="2862560" cy="409560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3: SALIU SHERIFFDEEN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Real-Time Collection Analytics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79727" y="3548062"/>
            <a:ext cx="651227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Class Compliance Breakdowns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79727" y="3833812"/>
            <a:ext cx="578837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Immediate visibility into fee collection distributions across junior and senior secondary levels.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79727" y="4824412"/>
            <a:ext cx="651227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Expected vs. Recovered Trends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79727" y="5110162"/>
            <a:ext cx="651227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Real-time tracking of term revenue targets against actual funds cleared.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0677" y="2386012"/>
            <a:ext cx="324873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16A34A"/>
                </a:solidFill>
                <a:latin typeface="Plus Jakarta Sans"/>
              </a:rP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0677" y="2805112"/>
            <a:ext cx="32487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5803D"/>
                </a:solidFill>
                <a:latin typeface="Plus Jakarta Sans"/>
              </a:rPr>
              <a:t>Paid Status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93063" y="2386012"/>
            <a:ext cx="3248731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2563EB"/>
                </a:solidFill>
                <a:latin typeface="Plus Jakarta Sans"/>
              </a:rPr>
              <a:t>Zero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3063" y="2805112"/>
            <a:ext cx="3248731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D4ED8"/>
                </a:solidFill>
                <a:latin typeface="Plus Jakarta Sans"/>
              </a:rPr>
              <a:t>Unresolved Deficits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7512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850356"/>
            <a:ext cx="3505200" cy="2090737"/>
          </a:xfrm>
          <a:prstGeom prst="roundRect">
            <a:avLst>
              <a:gd name="adj" fmla="val 546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7512"/>
            <a:ext cx="3505200" cy="1876425"/>
          </a:xfrm>
          <a:prstGeom prst="roundRect">
            <a:avLst>
              <a:gd name="adj" fmla="val 60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887" y="3262312"/>
            <a:ext cx="428625" cy="3429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737" y="3155156"/>
            <a:ext cx="390525" cy="3429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8350" y="3262312"/>
            <a:ext cx="342900" cy="342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3: SALIU SHERIFFDEEN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Beyond Schools: Multi-Sector Scalability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950" y="3757612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Schools &amp; Academies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00512"/>
            <a:ext cx="3810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Primary initial deployment target. Seasonal billing, term levies, and roster reconciliation.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5750" y="3650456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Retail &amp; Hospitality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91000" y="3993356"/>
            <a:ext cx="381000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Field-tested at Odies Bar, Ikorodu. Quick inventory selection, counter receipts, and shifts.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9550" y="3757612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0F172A"/>
                </a:solidFill>
                <a:latin typeface="Space Grotesk"/>
              </a:rPr>
              <a:t>Service Providers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24800" y="4100512"/>
            <a:ext cx="381000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Artisans and trade workshops. Job quotes converted into immediate card payments.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36134" y="2371725"/>
            <a:ext cx="4646265" cy="990600"/>
          </a:xfrm>
          <a:prstGeom prst="roundRect">
            <a:avLst>
              <a:gd name="adj" fmla="val 96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36134" y="3533775"/>
            <a:ext cx="4646265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936134" y="4524375"/>
            <a:ext cx="4646265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857375"/>
            <a:ext cx="5983634" cy="4000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196703"/>
            <a:ext cx="5678834" cy="332184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4: ADEKUNLE MATTHEW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Smart mPOS: Purpose-Built Hardware Kit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6634" y="2562225"/>
            <a:ext cx="506536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Samsung Enterprise Tablet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26634" y="2828925"/>
            <a:ext cx="436051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High-clarity Android touchscreen running full Invify management software.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6634" y="3724275"/>
            <a:ext cx="506536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AISINO VM30 Card Reader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6634" y="3990975"/>
            <a:ext cx="506536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Vanstone Electronic EMV Chip &amp; PIN secure payment terminal.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26634" y="4714875"/>
            <a:ext cx="5065365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Fast Thermal Printer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6634" y="4981575"/>
            <a:ext cx="506536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High-speed Bluetooth receipt printing for parent records.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562475"/>
            <a:ext cx="10972800" cy="657225"/>
          </a:xfrm>
          <a:prstGeom prst="roundRect">
            <a:avLst>
              <a:gd name="adj" fmla="val 1739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71750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571750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571750"/>
            <a:ext cx="3505200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4562475"/>
            <a:ext cx="38100" cy="65722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4: ADEKUNLE MATTHEW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Device Testing &amp; Compatibility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91075"/>
            <a:ext cx="112776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E40AF"/>
                </a:solidFill>
                <a:latin typeface="Plus Jakarta Sans"/>
              </a:rPr>
              <a:t>Certification Ready:</a:t>
            </a:r>
            <a:r>
              <a:rPr b="0" sz="1200" i="0" u="none">
                <a:solidFill>
                  <a:srgbClr val="1E40AF"/>
                </a:solidFill>
                <a:latin typeface="Plus Jakarta Sans"/>
              </a:rPr>
              <a:t> Software structure prepared for ISO messaging, NIBSS certification, and direct FCMB terminal key injection protocols.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838450"/>
            <a:ext cx="371475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Plus Jakarta Sans"/>
              </a:rPr>
              <a:t>15+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409950"/>
            <a:ext cx="3714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Devices Evaluated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648075"/>
            <a:ext cx="3067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End-to-end sandbox and field testing completed.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2838450"/>
            <a:ext cx="371475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409950"/>
            <a:ext cx="3714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POS Brands Validated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648075"/>
            <a:ext cx="3067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Including AISINO Vanstone electronic architecture.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2838450"/>
            <a:ext cx="371475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0284C7"/>
                </a:solidFill>
                <a:latin typeface="Plus Jakarta Sans"/>
              </a:rPr>
              <a:t>v9+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43900" y="3409950"/>
            <a:ext cx="37147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Plus Jakarta Sans"/>
              </a:rPr>
              <a:t>Android OS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3900" y="3648075"/>
            <a:ext cx="3067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Broad operating system compatibility across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70177" y="2457450"/>
            <a:ext cx="6112222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70177" y="3448050"/>
            <a:ext cx="6112222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70177" y="4438650"/>
            <a:ext cx="6112222" cy="819150"/>
          </a:xfrm>
          <a:prstGeom prst="roundRect">
            <a:avLst>
              <a:gd name="adj" fmla="val 116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104" y="1857523"/>
            <a:ext cx="2156519" cy="40002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5: ADEWUNMI ODULEYE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Multi-Channel Payment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0677" y="2647950"/>
            <a:ext cx="653132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Dedicated Virtual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0677" y="2914650"/>
            <a:ext cx="653132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Instant reconciliation for parents paying through mobile banking apps.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0677" y="3638550"/>
            <a:ext cx="653132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Smart mPOS Card Clearing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0677" y="3905250"/>
            <a:ext cx="653132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 debit card processing at counter with immediate authorization.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0677" y="4629150"/>
            <a:ext cx="6531322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Automated Requery &amp; Cash Match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0677" y="4895850"/>
            <a:ext cx="653132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Plus Jakarta Sans"/>
              </a:rPr>
              <a:t>Resolves pending transfers instantly, keeping accounting balanced.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609850"/>
            <a:ext cx="6112222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3952875"/>
            <a:ext cx="6112222" cy="1152525"/>
          </a:xfrm>
          <a:prstGeom prst="roundRect">
            <a:avLst>
              <a:gd name="adj" fmla="val 991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330" y="1857375"/>
            <a:ext cx="2500312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5: ADEWUNMI ODULEYE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Single Source of Truth: Internal Ledger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38450"/>
            <a:ext cx="742221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Double-Entry Ledger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133725"/>
            <a:ext cx="575027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Every fee payment automatically splits across wallet balances, cash reserves, and acquiring channels.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181475"/>
            <a:ext cx="742221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Real-Time Margin Auditing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4476750"/>
            <a:ext cx="5750272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Real-time tracking of transaction fees, MSC shares, and merchant disbursements with zero ambiguity.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05162"/>
            <a:ext cx="170184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463849" y="3205162"/>
            <a:ext cx="170184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18099" y="3205162"/>
            <a:ext cx="170184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72348" y="3205162"/>
            <a:ext cx="170184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26598" y="3205162"/>
            <a:ext cx="170184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80848" y="3205162"/>
            <a:ext cx="1701849" cy="1381125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5: ADEWUNMI ODULEYE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Six-Step Settlement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368" y="3433762"/>
            <a:ext cx="1746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3710" y="3795712"/>
            <a:ext cx="18336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Create Bill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368" y="4052887"/>
            <a:ext cx="17463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Invoice assembled on Invify.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41618" y="3433762"/>
            <a:ext cx="1746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7960" y="3795712"/>
            <a:ext cx="18336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Link Roster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618" y="4052887"/>
            <a:ext cx="17463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Student ID bound to transaction.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5868" y="3433762"/>
            <a:ext cx="1746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2210" y="3795712"/>
            <a:ext cx="18336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Card / 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5868" y="4052887"/>
            <a:ext cx="17463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Customer executes payment.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0117" y="3433762"/>
            <a:ext cx="1746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lus Jakarta San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06459" y="3795712"/>
            <a:ext cx="18336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Acquiring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117" y="4052887"/>
            <a:ext cx="17463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FCMB rails process payment.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4367" y="3433762"/>
            <a:ext cx="1746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lus Jakarta Sans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60709" y="3795712"/>
            <a:ext cx="18336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Settlement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4367" y="4052887"/>
            <a:ext cx="17463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Funds settle in merchant account.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58616" y="3433762"/>
            <a:ext cx="1746312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284C7"/>
                </a:solidFill>
                <a:latin typeface="Plus Jakarta Sans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14959" y="3795712"/>
            <a:ext cx="183362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Space Grotesk"/>
              </a:rPr>
              <a:t>Auto-Match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8616" y="4052887"/>
            <a:ext cx="174631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Invify reconciles student ledger.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3225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043237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043237"/>
            <a:ext cx="3505200" cy="1704975"/>
          </a:xfrm>
          <a:prstGeom prst="roundRect">
            <a:avLst>
              <a:gd name="adj" fmla="val 670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28975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28987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3328987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4: ADEKUNLE MATTHEW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Dotroid: Security &amp; Managed Device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667125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Kiosk &amp; Launcher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962400"/>
            <a:ext cx="31432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Locks tablet strictly to business apps. Blocks browsing, unauthorized APKs, and tamper hazards.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67137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Fleet Heartbeat &amp; Telemetry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062412"/>
            <a:ext cx="3143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Monitors battery status, software versions, network connectivity, and terminal health.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767137"/>
            <a:ext cx="388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Remote Lock &amp; Wipe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4062412"/>
            <a:ext cx="3143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Instant geo-location tracking and cryptographic key de-provisioning upon terminal theft or risk.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2750"/>
            <a:ext cx="347975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56050" y="2952750"/>
            <a:ext cx="347975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02500" y="2952750"/>
            <a:ext cx="347975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4: ADEKUNLE MATTHEW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Why the Tablet + Dedicated mPOS Model?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57550"/>
            <a:ext cx="376707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Enhanced Ergonomics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9500"/>
            <a:ext cx="2965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Conventional POS touchscreens are too cramped for multi-student tuition rosters, complex invoices, and detailed analytics. Tablets offer operational comfort.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0850" y="3257550"/>
            <a:ext cx="376707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Isolated Cryptography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0850" y="3619500"/>
            <a:ext cx="2965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Card PIN entry stays strictly on the AISINO VM30 hardware reader. Plaintext credentials never touch the host tablet, simplifying PCI-DSS boundaries.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7300" y="3257550"/>
            <a:ext cx="3767072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Cost-Effective Scaling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07300" y="3619500"/>
            <a:ext cx="2965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Replacing a damaged screen does not require discarding certified acquiring hardware, drastically lowering long-term maintenance costs.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55131"/>
            <a:ext cx="3505200" cy="1881187"/>
          </a:xfrm>
          <a:prstGeom prst="roundRect">
            <a:avLst>
              <a:gd name="adj" fmla="val 60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55131"/>
            <a:ext cx="3505200" cy="1881187"/>
          </a:xfrm>
          <a:prstGeom prst="roundRect">
            <a:avLst>
              <a:gd name="adj" fmla="val 60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55131"/>
            <a:ext cx="3505200" cy="1881187"/>
          </a:xfrm>
          <a:prstGeom prst="roundRect">
            <a:avLst>
              <a:gd name="adj" fmla="val 607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955131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43400" y="2955131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077200" y="2955131"/>
            <a:ext cx="35052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6: OKAFOR HELEN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Target Market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298031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Private Education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40931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Tier 1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888581"/>
            <a:ext cx="31432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Over 18,000 registered private schools across Lagos and Ogun State alone seeking automated term collections.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298031"/>
            <a:ext cx="40005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Retail &amp; Merchants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640931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Tier 2 Priority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888581"/>
            <a:ext cx="31432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Bars, pharmacies, and mid-sized distributors needing inventory tied directly to bank card terminals.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5800" y="3298031"/>
            <a:ext cx="38862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Space Grotesk"/>
              </a:rPr>
              <a:t>Artisans &amp; Trades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5800" y="3640931"/>
            <a:ext cx="38100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Tier 3 Priority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5800" y="3888581"/>
            <a:ext cx="3143250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64748B"/>
                </a:solidFill>
                <a:latin typeface="Plus Jakarta Sans"/>
              </a:rPr>
              <a:t>Mechanic hubs and fabrication workshops upgrading from personal bank transfers to formal invoices.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67062"/>
            <a:ext cx="257175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9950" y="3167062"/>
            <a:ext cx="257175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10300" y="3067050"/>
            <a:ext cx="2571750" cy="1657350"/>
          </a:xfrm>
          <a:prstGeom prst="roundRect">
            <a:avLst>
              <a:gd name="adj" fmla="val 689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010650" y="3167062"/>
            <a:ext cx="257175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6: OKAFOR HELEN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Commercial Revenue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433762"/>
            <a:ext cx="2690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REVENUE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662362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Monthly SaaS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3957637"/>
            <a:ext cx="2247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Subscription per merchant for student portal and Dotroid MDM.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9500" y="3433762"/>
            <a:ext cx="2690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REVENUE 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3662362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Hardware Kit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3957637"/>
            <a:ext cx="2247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Outright lease or sale of tablet, AISINO mPOS, and printer bundle.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850" y="3333750"/>
            <a:ext cx="2690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REVENUE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850" y="356235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Acquiring Share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850" y="3857625"/>
            <a:ext cx="22479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Revenue split with FCMB on processed card transaction volumes.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0" y="3433762"/>
            <a:ext cx="2690812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REVENUE 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0200" y="3662362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Enterprise SLA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957637"/>
            <a:ext cx="2247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Custom ERP integration and on-site support for school chains.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38450"/>
            <a:ext cx="5334000" cy="211455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38450"/>
            <a:ext cx="5334000" cy="211455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581400"/>
            <a:ext cx="123825" cy="1428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67150"/>
            <a:ext cx="123825" cy="1428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152900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438650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581400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3867150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152900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4438650"/>
            <a:ext cx="12382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6: OKAFOR HELEN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Strategic Alignment with FCMB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43250"/>
            <a:ext cx="62007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5C1D8D"/>
                </a:solidFill>
                <a:latin typeface="Space Grotesk"/>
              </a:rPr>
              <a:t>What FCMB Delivers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3143250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Space Grotesk"/>
              </a:rPr>
              <a:t>What Invify Delivers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505200"/>
            <a:ext cx="5905500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Regulated acquiring rails &amp; settlement.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0950"/>
            <a:ext cx="5905500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Terminal Identification (TID &amp; MID).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076700"/>
            <a:ext cx="5905500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Commercial merchant settlement accounts.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362450"/>
            <a:ext cx="5905500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Payment certification &amp; compliance backing.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200" y="3505200"/>
            <a:ext cx="5638800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Sticky low-cost deposit growth for FCMB.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200" y="3790950"/>
            <a:ext cx="5638800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Specialized school and merchant software.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200" y="4076700"/>
            <a:ext cx="5638800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Zero terminal dormancy via business workflows.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3200" y="4362450"/>
            <a:ext cx="5638800" cy="285750"/>
          </a:xfrm>
          <a:prstGeom prst="rect">
            <a:avLst/>
          </a:prstGeom>
          <a:noFill/>
        </p:spPr>
        <p:txBody>
          <a:bodyPr wrap="none" lIns="200025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125" i="0" u="none">
                <a:solidFill>
                  <a:srgbClr val="475569"/>
                </a:solidFill>
                <a:latin typeface="Plus Jakarta Sans"/>
              </a:rPr>
              <a:t>Managed fleet security via Dotroid MDM.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57550"/>
            <a:ext cx="2042219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842319" y="3257550"/>
            <a:ext cx="2042219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75039" y="3257550"/>
            <a:ext cx="2042219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07758" y="3257550"/>
            <a:ext cx="2042219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540478" y="3257550"/>
            <a:ext cx="2042219" cy="1276350"/>
          </a:xfrm>
          <a:prstGeom prst="roundRect">
            <a:avLst>
              <a:gd name="adj" fmla="val 746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6: OKAFOR HELEN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Controlled Merchant Pilot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447" y="3505200"/>
            <a:ext cx="20765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PHASE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534" y="3695700"/>
            <a:ext cx="21803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Alignment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2447" y="3981450"/>
            <a:ext cx="20765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Architecture, APIs, and TID parameters.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167" y="3505200"/>
            <a:ext cx="20765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PHASE 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73253" y="3695700"/>
            <a:ext cx="21803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Integration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167" y="3981450"/>
            <a:ext cx="20765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Connect Invify to FCMB card acquiring switch.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7886" y="3505200"/>
            <a:ext cx="20765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PHASE 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05973" y="3695700"/>
            <a:ext cx="21803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Key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57886" y="3981450"/>
            <a:ext cx="20765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Certify AISINO VM30 security keys.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0606" y="3505200"/>
            <a:ext cx="20765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PHASE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8693" y="3695700"/>
            <a:ext cx="21803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Field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0606" y="3981450"/>
            <a:ext cx="20765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Deploy 15–20 units to selected schools.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3325" y="3505200"/>
            <a:ext cx="2076524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975" i="0" u="none">
                <a:solidFill>
                  <a:srgbClr val="0284C7"/>
                </a:solidFill>
                <a:latin typeface="Plus Jakarta Sans"/>
              </a:rPr>
              <a:t>PHASE 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71412" y="3695700"/>
            <a:ext cx="21803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75" i="0" u="none">
                <a:solidFill>
                  <a:srgbClr val="0F172A"/>
                </a:solidFill>
                <a:latin typeface="Space Grotesk"/>
              </a:rPr>
              <a:t>Commercial 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3325" y="3981450"/>
            <a:ext cx="207652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975" i="0" u="none">
                <a:solidFill>
                  <a:srgbClr val="64748B"/>
                </a:solidFill>
                <a:latin typeface="Plus Jakarta Sans"/>
              </a:rPr>
              <a:t>Review settlement metrics &amp; expand.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90850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90850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90850"/>
            <a:ext cx="3505200" cy="1809750"/>
          </a:xfrm>
          <a:prstGeom prst="roundRect">
            <a:avLst>
              <a:gd name="adj" fmla="val 631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6: OKAFOR HELEN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Execution Request to FCMB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295650"/>
            <a:ext cx="381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800475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Acquiring Rails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4095750"/>
            <a:ext cx="3143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MID and TID provisioning for Invify Smart mPOS deployments across pilot schools.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95650"/>
            <a:ext cx="381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800475"/>
            <a:ext cx="40005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Switch APIs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095750"/>
            <a:ext cx="3143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Direct API/SDK hooks for transaction authorization, requery endpoints, and webhooks.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5800" y="3295650"/>
            <a:ext cx="3810000" cy="4286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5800" y="3800475"/>
            <a:ext cx="38862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Hardware Certification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05800" y="4095750"/>
            <a:ext cx="31432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64748B"/>
                </a:solidFill>
                <a:latin typeface="Plus Jakarta Sans"/>
              </a:rPr>
              <a:t>Terminal key-injection and certification path for the AISINO VM30 device suite.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81300"/>
            <a:ext cx="3530649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30749" y="2781300"/>
            <a:ext cx="3530649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51899" y="2781300"/>
            <a:ext cx="3530649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3981450"/>
            <a:ext cx="3530649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30749" y="3981450"/>
            <a:ext cx="3530649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51899" y="3981450"/>
            <a:ext cx="3530649" cy="1028700"/>
          </a:xfrm>
          <a:prstGeom prst="roundRect">
            <a:avLst>
              <a:gd name="adj" fmla="val 925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SPEAKER 6: OKAFOR HELEN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Space Grotesk"/>
              </a:rPr>
              <a:t>Presenting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150" y="2990850"/>
            <a:ext cx="408390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Oluwele Temitope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323850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Opening &amp; 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150" y="344805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Strategic positioning and executive dialogue.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0299" y="2990850"/>
            <a:ext cx="408390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Aramide Adebayo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299" y="323850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Chief Executive Officer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0299" y="344805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Vision, product architecture, and IIPS lead.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1449" y="2990850"/>
            <a:ext cx="39305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Saliu Sheriffdeen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1449" y="323850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Product Engineering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1449" y="344805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Software workflows and school billing lead.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4191000"/>
            <a:ext cx="408390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Adekunle Matthew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" y="443865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Hardware &amp; Dotroid MDM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464820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Terminal integration and security layers.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0299" y="4191000"/>
            <a:ext cx="4083908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Adewunmi Oduleye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0299" y="443865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Payments &amp; Settlement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0299" y="464820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Financial flows, ledgers, and reconciliation.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1449" y="4191000"/>
            <a:ext cx="393055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0F172A"/>
                </a:solidFill>
                <a:latin typeface="Space Grotesk"/>
              </a:rPr>
              <a:t>Okafor Helen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61449" y="443865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Commercial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1449" y="4648200"/>
            <a:ext cx="3889437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Plus Jakarta Sans"/>
              </a:rPr>
              <a:t>Market scaling and commercial partnerships.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048000" y="4494758"/>
            <a:ext cx="6096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048000" y="4494758"/>
            <a:ext cx="6096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3062" y="1905892"/>
            <a:ext cx="1285875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512" y="1982092"/>
            <a:ext cx="942975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0" y="4790033"/>
            <a:ext cx="14287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9625" y="4790033"/>
            <a:ext cx="14287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8900" y="4790033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5275" y="4790033"/>
            <a:ext cx="104775" cy="1428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79682" y="2705992"/>
            <a:ext cx="423248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38BDF8"/>
                </a:solidFill>
                <a:latin typeface="Plus Jakarta Sans"/>
              </a:rPr>
              <a:t>THANK YOU • FCMB PARTNERSHIP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17" y="2953642"/>
            <a:ext cx="12087615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Space Grotesk"/>
              </a:rPr>
              <a:t>Let's Power Modern Merchant Collections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675608"/>
            <a:ext cx="7620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94A3B8"/>
                </a:solidFill>
                <a:latin typeface="Plus Jakarta Sans"/>
              </a:rPr>
              <a:t>Ready to proceed with live hardware demonstrations and technical workstream alignment.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43250" y="4770983"/>
            <a:ext cx="12763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8FAFC"/>
                </a:solidFill>
                <a:latin typeface="Plus Jakarta Sans"/>
              </a:rPr>
              <a:t>www.invify.org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2968" y="4770983"/>
            <a:ext cx="1547812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8FAFC"/>
                </a:solidFill>
                <a:latin typeface="Plus Jakarta Sans"/>
              </a:rPr>
              <a:t>support@iipa.app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4150" y="4770983"/>
            <a:ext cx="11811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8FAFC"/>
                </a:solidFill>
                <a:latin typeface="Plus Jakarta Sans"/>
              </a:rPr>
              <a:t>0802355332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72425" y="4770983"/>
            <a:ext cx="131445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125" i="0" u="none">
                <a:solidFill>
                  <a:srgbClr val="F8FAFC"/>
                </a:solidFill>
                <a:latin typeface="Plus Jakarta Sans"/>
              </a:rPr>
              <a:t>Ikorodu, Lagos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